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8"/>
  </p:notesMasterIdLst>
  <p:handoutMasterIdLst>
    <p:handoutMasterId r:id="rId29"/>
  </p:handoutMasterIdLst>
  <p:sldIdLst>
    <p:sldId id="256" r:id="rId5"/>
    <p:sldId id="313" r:id="rId6"/>
    <p:sldId id="318" r:id="rId7"/>
    <p:sldId id="270" r:id="rId8"/>
    <p:sldId id="319" r:id="rId9"/>
    <p:sldId id="320" r:id="rId10"/>
    <p:sldId id="321" r:id="rId11"/>
    <p:sldId id="322" r:id="rId12"/>
    <p:sldId id="324" r:id="rId13"/>
    <p:sldId id="266" r:id="rId14"/>
    <p:sldId id="323" r:id="rId15"/>
    <p:sldId id="278" r:id="rId16"/>
    <p:sldId id="325" r:id="rId17"/>
    <p:sldId id="326" r:id="rId18"/>
    <p:sldId id="311" r:id="rId19"/>
    <p:sldId id="329" r:id="rId20"/>
    <p:sldId id="330" r:id="rId21"/>
    <p:sldId id="331" r:id="rId22"/>
    <p:sldId id="332" r:id="rId23"/>
    <p:sldId id="334" r:id="rId24"/>
    <p:sldId id="333" r:id="rId25"/>
    <p:sldId id="293" r:id="rId26"/>
    <p:sldId id="276" r:id="rId27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96" y="27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22/02/2026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22/02/2026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695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94F4D-D70C-E590-04B7-615F74BE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F703733-19CD-630C-3C5F-4E926F243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74C6E53-04C6-9FD8-97B1-34D6192E1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7566B9D-25FD-50B8-4254-1A1E945F9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3801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7235E-9F99-AAAF-0883-2658B11C4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E1F10D0-62EB-C26B-E446-CDEAFC13E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907AE80-6322-316E-5FE0-427515DDB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B2AC9E-E940-4A4A-AEC3-90E7F4CF7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981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3713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962C6-AECC-B00B-EFFD-38496BB4F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A4E9864-566A-D5D6-B25E-65571858B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2AFB528-E8CA-3742-912F-78F472B83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32232E-B338-21B5-F033-A4B9351AC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6286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8A14F-E80C-62DE-DADA-6B40E381F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90778D7-6F55-3E0A-C153-0A3D0FB9F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3B601F1-729E-B217-B3B3-168BFFD89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05008FB-B641-9F18-B4F0-E3FC379C3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6345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47050-A550-D43D-9425-2D1C021F6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C8FA234-1BDD-98F7-CDC3-9C1332907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1047C6C-CBAE-49B2-6FF1-8F63F45E0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F6E3BE-D6FC-BE85-9CF2-8BB620094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6125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13825-E560-E908-5148-DD88E9929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874A191-F249-5D60-75DC-6294EE4DE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2F19E6D-FCA6-5C6B-DF1D-7BCDEF6F9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EC6C1F-DAB3-43ED-BF0A-0D32BFBF2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7810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60544-647A-D61A-220D-1E903B003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C7811E2-79B0-1260-9A7D-229F66A50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8E33942-F6DB-E2E4-17E7-296F88485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C04416-4442-1AAD-C74D-E4201FB90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8983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5487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4C3E7-C168-2C9E-7BE5-B58E9B17A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F9846B0-DBFC-A80A-CE79-339570379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2F75E3C-BA87-BA4D-CDBF-29DE55C24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12E62D-A086-4423-47D8-A21A194DE5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67800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0811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6C34A-72B3-4E9D-1C1F-1626F4439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909C5FE-3EA4-D995-1A9F-1604BF4B5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40BC67E-ADCA-3F20-57DE-29AC6E585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257069-BE77-486F-299D-98E73608F1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0942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A0219-927F-05D4-2BB7-9A009BCCA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2102B4A-A01A-B9CD-52B0-98177899A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190506F-7DF8-B8B9-8BCE-41BBB77BD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9CC8E1-AB3C-20C4-468A-BA6DB4667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16002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A8C72-0B61-6448-F234-6424BB27A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011AB0A-6169-EADC-7693-22E239A4D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63B8754-5DEF-B68E-717F-09548DCAA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991168-2B57-F5FF-0D40-464876EC0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71834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E953B-837F-B6A2-E5FD-D1EB8D16F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3D7E5DE-9925-409A-B406-766BF8585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C0D73A2-BFA1-D114-C621-CA55425F7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357F2A-0CF1-7988-7F71-E3AE73A17C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22184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AEBCE-5497-913B-9AE4-ECFFA00D9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6524084-8FEC-E6EF-746E-1D58ABE2A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2628B30-E87D-8333-9BAB-A66F56062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21D9AC6-5282-F8E9-1E3A-2872456633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32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37134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3B35D-478E-C1B3-8E7F-F2A7B0E2C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BD2EE29-93F4-9495-E9E9-D770A36175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649FA4E-ECBD-21EB-3207-BAF7069C4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B731A2-B0EF-1A27-1BFE-2B8C89BBD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55906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247CF-B1BF-B512-C558-A6E667B1E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5B1719F-55B9-46FE-1B76-5C491D70C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7D2BB50-FB21-7F19-FCBF-AFC0859C6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D79698-330E-B418-1CD6-6157BCFC2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05835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CE3B9-B4B7-D984-8E1A-A0007C6B8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46E1220-7AB8-9899-D786-88F514ED4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A8F75A9-D528-32CF-3FE8-EAFE433DD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96402C-D372-8532-3150-38796FEA1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14091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60342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328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áfico e tabel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o Gráfico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/>
          <a:p>
            <a:pPr rtl="0"/>
            <a:r>
              <a:rPr lang="pt-BR" noProof="0"/>
              <a:t>Clique no ícone para adicionar um gráfico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910642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  <p:sldLayoutId id="2147483701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r>
              <a:rPr lang="pt-BR" dirty="0"/>
              <a:t>Visualização de Dados Interativa com </a:t>
            </a:r>
            <a:r>
              <a:rPr lang="pt-BR" dirty="0" err="1"/>
              <a:t>StreamLit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/>
          <a:lstStyle/>
          <a:p>
            <a:pPr rtl="0"/>
            <a:r>
              <a:rPr lang="pt-BR" dirty="0"/>
              <a:t>Lucas Rios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236AC-F004-30CE-8295-D553E012A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C2D00-3DB0-E74A-BD51-FD53D19BB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0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kern="1200" cap="all" spc="150" baseline="0" dirty="0">
                <a:latin typeface="+mj-lt"/>
                <a:ea typeface="+mj-ea"/>
                <a:cs typeface="+mj-cs"/>
              </a:rPr>
              <a:t>Visualização começa antes do gráfico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FA1C77E-2D3A-B96C-D272-39467FE04A83}"/>
              </a:ext>
            </a:extLst>
          </p:cNvPr>
          <p:cNvSpPr txBox="1"/>
          <p:nvPr/>
        </p:nvSpPr>
        <p:spPr>
          <a:xfrm>
            <a:off x="1230701" y="2212522"/>
            <a:ext cx="97305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O gráfico não é o ponto de partida, ele é consequência.</a:t>
            </a:r>
          </a:p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5054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198E-AD45-883D-BCE0-D2709A79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88791-E8ED-10A7-C381-F01787AF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0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kern="1200" cap="all" spc="150" baseline="0" dirty="0">
                <a:latin typeface="+mj-lt"/>
                <a:ea typeface="+mj-ea"/>
                <a:cs typeface="+mj-cs"/>
              </a:rPr>
              <a:t>Visualização começa antes do gráfico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29C7906-9121-FA91-B5D7-C909AE07E1EB}"/>
              </a:ext>
            </a:extLst>
          </p:cNvPr>
          <p:cNvSpPr txBox="1"/>
          <p:nvPr/>
        </p:nvSpPr>
        <p:spPr>
          <a:xfrm>
            <a:off x="1230701" y="2212522"/>
            <a:ext cx="97305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O gráfico não é o ponto de partida, ele é consequência.</a:t>
            </a:r>
          </a:p>
          <a:p>
            <a:pPr algn="ctr"/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08A35A5-CFBA-E02F-E26B-282D9CD76FD3}"/>
              </a:ext>
            </a:extLst>
          </p:cNvPr>
          <p:cNvSpPr txBox="1"/>
          <p:nvPr/>
        </p:nvSpPr>
        <p:spPr>
          <a:xfrm>
            <a:off x="1230700" y="3999148"/>
            <a:ext cx="97305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Se o usuário não confia nos dados, ele não confiará na visualização. Por isso, a etapa de exibição estruturada do </a:t>
            </a:r>
            <a:r>
              <a:rPr lang="pt-BR" dirty="0" err="1"/>
              <a:t>dataset</a:t>
            </a:r>
            <a:r>
              <a:rPr lang="pt-BR" dirty="0"/>
              <a:t> é parte central da experiência.</a:t>
            </a:r>
          </a:p>
        </p:txBody>
      </p:sp>
    </p:spTree>
    <p:extLst>
      <p:ext uri="{BB962C8B-B14F-4D97-AF65-F5344CB8AC3E}">
        <p14:creationId xmlns:p14="http://schemas.microsoft.com/office/powerpoint/2010/main" val="1399668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 rtlCol="0">
            <a:normAutofit fontScale="90000"/>
          </a:bodyPr>
          <a:lstStyle/>
          <a:p>
            <a:r>
              <a:rPr lang="pt-BR" dirty="0"/>
              <a:t>st.dataframe()</a:t>
            </a:r>
            <a:br>
              <a:rPr lang="pt-BR" dirty="0"/>
            </a:br>
            <a:r>
              <a:rPr lang="pt-BR" dirty="0"/>
              <a:t>exploração de dados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4</a:t>
            </a:fld>
            <a:endParaRPr lang="pt-BR"/>
          </a:p>
        </p:txBody>
      </p:sp>
      <p:pic>
        <p:nvPicPr>
          <p:cNvPr id="8" name="Imagem 7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A365012E-76D5-45CB-D863-A73219818C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127"/>
          <a:stretch>
            <a:fillRect/>
          </a:stretch>
        </p:blipFill>
        <p:spPr>
          <a:xfrm>
            <a:off x="3254353" y="2487172"/>
            <a:ext cx="8322296" cy="4234303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56DEEA63-2B4E-9371-BA47-29F3EFBF5F0C}"/>
              </a:ext>
            </a:extLst>
          </p:cNvPr>
          <p:cNvSpPr txBox="1"/>
          <p:nvPr/>
        </p:nvSpPr>
        <p:spPr>
          <a:xfrm>
            <a:off x="5920169" y="1999072"/>
            <a:ext cx="6098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Análise exploratória e </a:t>
            </a:r>
            <a:r>
              <a:rPr lang="pt-BR" dirty="0" err="1"/>
              <a:t>debugging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8E0FB-14BD-0BC3-ECBB-726ECCF82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D2718-A5DB-1337-2E0F-65A34C89D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 rtlCol="0">
            <a:normAutofit fontScale="90000"/>
          </a:bodyPr>
          <a:lstStyle/>
          <a:p>
            <a:r>
              <a:rPr lang="pt-BR" dirty="0"/>
              <a:t>st.dataframe()</a:t>
            </a:r>
            <a:br>
              <a:rPr lang="pt-BR" dirty="0"/>
            </a:br>
            <a:r>
              <a:rPr lang="pt-BR" dirty="0"/>
              <a:t>exploração de dados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6DBE76E-39EB-BBAF-8B84-1F77F3EEA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5</a:t>
            </a:fld>
            <a:endParaRPr lang="pt-BR"/>
          </a:p>
        </p:txBody>
      </p:sp>
      <p:pic>
        <p:nvPicPr>
          <p:cNvPr id="4" name="Imagem 3" descr="Calculadora preta com letras brancas&#10;&#10;O conteúdo gerado por IA pode estar incorreto.">
            <a:extLst>
              <a:ext uri="{FF2B5EF4-FFF2-40B4-BE49-F238E27FC236}">
                <a16:creationId xmlns:a16="http://schemas.microsoft.com/office/drawing/2014/main" id="{7C56EC47-31B0-C3EA-9C5C-3FA2E4A4F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686" y="1999072"/>
            <a:ext cx="10512280" cy="638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553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00385-72BB-B8C7-3213-E95FFE977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56C23-5B78-0547-BCE6-A90C614E6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 rtlCol="0">
            <a:normAutofit fontScale="90000"/>
          </a:bodyPr>
          <a:lstStyle/>
          <a:p>
            <a:r>
              <a:rPr lang="pt-BR" dirty="0"/>
              <a:t>st.dataframe()</a:t>
            </a:r>
            <a:br>
              <a:rPr lang="pt-BR" dirty="0"/>
            </a:br>
            <a:r>
              <a:rPr lang="pt-BR" dirty="0"/>
              <a:t>exploração de dados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87698F5-FED9-A8D1-B13F-4EF7E4B54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6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F1DD96A-0DF3-CF04-7327-B0A1A79C8A33}"/>
              </a:ext>
            </a:extLst>
          </p:cNvPr>
          <p:cNvSpPr txBox="1"/>
          <p:nvPr/>
        </p:nvSpPr>
        <p:spPr>
          <a:xfrm>
            <a:off x="5920169" y="1999072"/>
            <a:ext cx="6098874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Quando usar?</a:t>
            </a:r>
          </a:p>
          <a:p>
            <a:endParaRPr lang="pt-B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Durante exploração de dados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Em dashboards analíticos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Para permitir auditoria do </a:t>
            </a:r>
            <a:r>
              <a:rPr lang="pt-BR" dirty="0" err="1"/>
              <a:t>dataset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Para validação de pré-processamento</a:t>
            </a:r>
          </a:p>
          <a:p>
            <a:endParaRPr lang="pt-BR" dirty="0"/>
          </a:p>
          <a:p>
            <a:r>
              <a:rPr lang="pt-BR" sz="2800" dirty="0"/>
              <a:t>Em projetos de IA, é extremamente comum usar </a:t>
            </a:r>
            <a:r>
              <a:rPr lang="pt-BR" sz="2800" dirty="0" err="1"/>
              <a:t>st.dataframe</a:t>
            </a:r>
            <a:r>
              <a:rPr lang="pt-BR" sz="2800" dirty="0"/>
              <a:t> logo após: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Upload de arquivo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Limpeza de dados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Aplicação de filtros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Resultado de inferência</a:t>
            </a:r>
          </a:p>
        </p:txBody>
      </p:sp>
    </p:spTree>
    <p:extLst>
      <p:ext uri="{BB962C8B-B14F-4D97-AF65-F5344CB8AC3E}">
        <p14:creationId xmlns:p14="http://schemas.microsoft.com/office/powerpoint/2010/main" val="631032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C333C-214C-59BF-9945-5EA5DB845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7F6EDB-D792-B56E-E2F7-8A98F593D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6098874" cy="846301"/>
          </a:xfrm>
        </p:spPr>
        <p:txBody>
          <a:bodyPr rtlCol="0">
            <a:normAutofit fontScale="90000"/>
          </a:bodyPr>
          <a:lstStyle/>
          <a:p>
            <a:r>
              <a:rPr lang="pt-BR" dirty="0" err="1"/>
              <a:t>st.table</a:t>
            </a:r>
            <a:r>
              <a:rPr lang="pt-BR" dirty="0"/>
              <a:t>()</a:t>
            </a:r>
            <a:br>
              <a:rPr lang="pt-BR" dirty="0"/>
            </a:br>
            <a:r>
              <a:rPr lang="pt-BR" dirty="0"/>
              <a:t>resultados consolidados</a:t>
            </a:r>
            <a:br>
              <a:rPr lang="pt-BR" dirty="0"/>
            </a:br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654DF64-3338-6E65-36E9-FC60DE8E1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7</a:t>
            </a:fld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A770E1B-CB96-EF4F-02B2-AAFB1154D7EC}"/>
              </a:ext>
            </a:extLst>
          </p:cNvPr>
          <p:cNvSpPr txBox="1"/>
          <p:nvPr/>
        </p:nvSpPr>
        <p:spPr>
          <a:xfrm>
            <a:off x="5920169" y="1999072"/>
            <a:ext cx="6098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Mostrar resultados consolidados</a:t>
            </a:r>
          </a:p>
        </p:txBody>
      </p:sp>
      <p:pic>
        <p:nvPicPr>
          <p:cNvPr id="7" name="Imagem 6" descr="Tela de vídeo game&#10;&#10;O conteúdo gerado por IA pode estar incorreto.">
            <a:extLst>
              <a:ext uri="{FF2B5EF4-FFF2-40B4-BE49-F238E27FC236}">
                <a16:creationId xmlns:a16="http://schemas.microsoft.com/office/drawing/2014/main" id="{A9ACA8CA-FB0D-BBC3-EA45-3B6A6DC1B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287" y="4279037"/>
            <a:ext cx="9422756" cy="2259875"/>
          </a:xfrm>
          <a:prstGeom prst="rect">
            <a:avLst/>
          </a:prstGeom>
        </p:spPr>
      </p:pic>
      <p:pic>
        <p:nvPicPr>
          <p:cNvPr id="12" name="Imagem 11" descr="Texto&#10;&#10;O conteúdo gerado por IA pode estar incorreto.">
            <a:extLst>
              <a:ext uri="{FF2B5EF4-FFF2-40B4-BE49-F238E27FC236}">
                <a16:creationId xmlns:a16="http://schemas.microsoft.com/office/drawing/2014/main" id="{E8DB5354-D426-60CC-3B66-1F2B91368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168" y="2548422"/>
            <a:ext cx="3896691" cy="137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487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B38F4-32C2-FFE6-8397-65DCECFA0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33F5D-0A68-1076-30DD-E7FAB2DA1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6098874" cy="846301"/>
          </a:xfrm>
        </p:spPr>
        <p:txBody>
          <a:bodyPr rtlCol="0">
            <a:normAutofit fontScale="90000"/>
          </a:bodyPr>
          <a:lstStyle/>
          <a:p>
            <a:r>
              <a:rPr lang="pt-BR" dirty="0" err="1"/>
              <a:t>st.table</a:t>
            </a:r>
            <a:r>
              <a:rPr lang="pt-BR" dirty="0"/>
              <a:t>()</a:t>
            </a:r>
            <a:br>
              <a:rPr lang="pt-BR" dirty="0"/>
            </a:br>
            <a:r>
              <a:rPr lang="pt-BR" dirty="0"/>
              <a:t>resultados consolidados</a:t>
            </a:r>
            <a:br>
              <a:rPr lang="pt-BR" dirty="0"/>
            </a:br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A4881B7-E3E4-09DD-F4F5-BC45FCB51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8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136D707-99FC-46CD-07F9-1FE5C1D820DB}"/>
              </a:ext>
            </a:extLst>
          </p:cNvPr>
          <p:cNvSpPr txBox="1"/>
          <p:nvPr/>
        </p:nvSpPr>
        <p:spPr>
          <a:xfrm>
            <a:off x="5920169" y="2115607"/>
            <a:ext cx="6098874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Quando usar?</a:t>
            </a:r>
          </a:p>
          <a:p>
            <a:endParaRPr lang="pt-B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Exibir um resumo final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Mostrar resultados consolidados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Apresentar rankings pequenos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Outputs formais (ex: top 10 clientes)</a:t>
            </a:r>
          </a:p>
        </p:txBody>
      </p:sp>
    </p:spTree>
    <p:extLst>
      <p:ext uri="{BB962C8B-B14F-4D97-AF65-F5344CB8AC3E}">
        <p14:creationId xmlns:p14="http://schemas.microsoft.com/office/powerpoint/2010/main" val="16176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D0B0A-6601-63BD-4008-9896547BB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BECD2-F22B-C6CD-2128-8CF702ABA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6098874" cy="846301"/>
          </a:xfrm>
        </p:spPr>
        <p:txBody>
          <a:bodyPr rtlCol="0">
            <a:normAutofit fontScale="90000"/>
          </a:bodyPr>
          <a:lstStyle/>
          <a:p>
            <a:r>
              <a:rPr lang="pt-BR" dirty="0" err="1"/>
              <a:t>df.describe</a:t>
            </a:r>
            <a:r>
              <a:rPr lang="pt-BR" dirty="0"/>
              <a:t>()</a:t>
            </a:r>
            <a:br>
              <a:rPr lang="pt-BR" dirty="0"/>
            </a:br>
            <a:r>
              <a:rPr lang="pt-BR" dirty="0"/>
              <a:t>estatísticas descritivas</a:t>
            </a:r>
            <a:br>
              <a:rPr lang="pt-BR" dirty="0"/>
            </a:br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E8A0B32E-BE70-36DB-1507-9434D37E6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9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625DA6-9F5C-E420-E8E3-C96AF33236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484"/>
          <a:stretch>
            <a:fillRect/>
          </a:stretch>
        </p:blipFill>
        <p:spPr>
          <a:xfrm>
            <a:off x="5920169" y="2101522"/>
            <a:ext cx="5527470" cy="846301"/>
          </a:xfrm>
          <a:prstGeom prst="rect">
            <a:avLst/>
          </a:prstGeom>
        </p:spPr>
      </p:pic>
      <p:pic>
        <p:nvPicPr>
          <p:cNvPr id="7" name="Imagem 6" descr="Tela de computador com fundo preto&#10;&#10;O conteúdo gerado por IA pode estar incorreto.">
            <a:extLst>
              <a:ext uri="{FF2B5EF4-FFF2-40B4-BE49-F238E27FC236}">
                <a16:creationId xmlns:a16="http://schemas.microsoft.com/office/drawing/2014/main" id="{A5023126-6181-6076-93F5-D62FB3C1B6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8207"/>
          <a:stretch>
            <a:fillRect/>
          </a:stretch>
        </p:blipFill>
        <p:spPr>
          <a:xfrm>
            <a:off x="2222366" y="3050273"/>
            <a:ext cx="9225273" cy="335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898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5" y="892177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kern="1200" cap="all" spc="150" baseline="0" dirty="0">
                <a:latin typeface="+mj-lt"/>
                <a:ea typeface="+mj-ea"/>
                <a:cs typeface="+mj-cs"/>
              </a:rPr>
              <a:t>Boas práticas em sistemas de IA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6B35F89A-6CDF-41F7-BD87-18B45BD733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43105" y="1859934"/>
            <a:ext cx="10110696" cy="1997867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pt-BR" dirty="0"/>
              <a:t>Seguindo a ideia de Transparência e Explicabilidade da aula passada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5F9DDF-D74C-899A-F214-5A2039A0A3DD}"/>
              </a:ext>
            </a:extLst>
          </p:cNvPr>
          <p:cNvSpPr txBox="1"/>
          <p:nvPr/>
        </p:nvSpPr>
        <p:spPr>
          <a:xfrm>
            <a:off x="838199" y="2455047"/>
            <a:ext cx="66294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Antes de qualquer gráfico: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Mostre pelo menos uma amostra do </a:t>
            </a:r>
            <a:r>
              <a:rPr lang="pt-BR" dirty="0" err="1"/>
              <a:t>dataset</a:t>
            </a:r>
            <a:r>
              <a:rPr lang="pt-B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Mostre estatísticas descritivas (</a:t>
            </a:r>
            <a:r>
              <a:rPr lang="pt-BR" dirty="0" err="1"/>
              <a:t>df.describe</a:t>
            </a:r>
            <a:r>
              <a:rPr lang="pt-BR" dirty="0"/>
              <a:t>()).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Permita que o usuário valide o conteúdo.</a:t>
            </a:r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B2CC9-0D6A-8CF2-FEBD-540CF3D01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FC92D2-8623-7E28-F2B3-5511A9782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5" y="892177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kern="1200" cap="all" spc="150" baseline="0" dirty="0">
                <a:latin typeface="+mj-lt"/>
                <a:ea typeface="+mj-ea"/>
                <a:cs typeface="+mj-cs"/>
              </a:rPr>
              <a:t>Boas práticas em sistemas de IA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50D7F500-1FA8-F8A9-C3DB-707B5B345E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43105" y="1859934"/>
            <a:ext cx="10110696" cy="1997867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pt-BR" dirty="0"/>
              <a:t>Seguindo a ideia de Transparência e Explicabilidade da aula passada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D5D3EF2-D388-72BB-E7C2-2CB8D509FD43}"/>
              </a:ext>
            </a:extLst>
          </p:cNvPr>
          <p:cNvSpPr txBox="1"/>
          <p:nvPr/>
        </p:nvSpPr>
        <p:spPr>
          <a:xfrm>
            <a:off x="838199" y="2455047"/>
            <a:ext cx="66294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Antes de qualquer gráfico: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Mostre pelo menos uma amostra do </a:t>
            </a:r>
            <a:r>
              <a:rPr lang="pt-BR" dirty="0" err="1"/>
              <a:t>dataset</a:t>
            </a:r>
            <a:r>
              <a:rPr lang="pt-B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Mostre estatísticas descritivas (</a:t>
            </a:r>
            <a:r>
              <a:rPr lang="pt-BR" dirty="0" err="1"/>
              <a:t>df.describe</a:t>
            </a:r>
            <a:r>
              <a:rPr lang="pt-BR" dirty="0"/>
              <a:t>()).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Permita que o usuário valide o conteúdo.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361B5D4-B8B6-3FB3-6A70-4A5D0A605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464012" y="3672612"/>
            <a:ext cx="3263975" cy="354231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BB7F3DED-0B7F-2784-794C-08E015E0F415}"/>
              </a:ext>
            </a:extLst>
          </p:cNvPr>
          <p:cNvSpPr txBox="1"/>
          <p:nvPr/>
        </p:nvSpPr>
        <p:spPr>
          <a:xfrm>
            <a:off x="6449410" y="2455047"/>
            <a:ext cx="6098874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Isso aumenta: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Transparência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Confiabilidade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Credibilidade do modelo</a:t>
            </a:r>
          </a:p>
        </p:txBody>
      </p:sp>
    </p:spTree>
    <p:extLst>
      <p:ext uri="{BB962C8B-B14F-4D97-AF65-F5344CB8AC3E}">
        <p14:creationId xmlns:p14="http://schemas.microsoft.com/office/powerpoint/2010/main" val="241953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7172146" cy="1325563"/>
          </a:xfrm>
        </p:spPr>
        <p:txBody>
          <a:bodyPr rtlCol="0" anchor="t">
            <a:normAutofit/>
          </a:bodyPr>
          <a:lstStyle/>
          <a:p>
            <a:r>
              <a:rPr lang="pt-BR" dirty="0"/>
              <a:t>Gráficos Nativos do </a:t>
            </a:r>
            <a:r>
              <a:rPr lang="pt-BR" dirty="0" err="1"/>
              <a:t>Streamlit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936910F-1886-C334-76A0-F5205B2F309A}"/>
              </a:ext>
            </a:extLst>
          </p:cNvPr>
          <p:cNvSpPr txBox="1"/>
          <p:nvPr/>
        </p:nvSpPr>
        <p:spPr>
          <a:xfrm>
            <a:off x="1333499" y="1984226"/>
            <a:ext cx="6098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Utilizam o Altair como mecanismo de renderização</a:t>
            </a:r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4A38A-FB11-DC14-8D53-2755A0FF8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6DF860-0DBF-0029-B946-90D234247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7172146" cy="1325563"/>
          </a:xfrm>
        </p:spPr>
        <p:txBody>
          <a:bodyPr rtlCol="0" anchor="t">
            <a:normAutofit/>
          </a:bodyPr>
          <a:lstStyle/>
          <a:p>
            <a:r>
              <a:rPr lang="pt-BR" dirty="0"/>
              <a:t>Gráficos Nativos do </a:t>
            </a:r>
            <a:r>
              <a:rPr lang="pt-BR" dirty="0" err="1"/>
              <a:t>Streamlit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458BDC5-D061-0A18-70A8-A544FB23CCD2}"/>
              </a:ext>
            </a:extLst>
          </p:cNvPr>
          <p:cNvSpPr txBox="1"/>
          <p:nvPr/>
        </p:nvSpPr>
        <p:spPr>
          <a:xfrm>
            <a:off x="1333499" y="1984226"/>
            <a:ext cx="6098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Utilizam o Altair como mecanismo de renderização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C158220-7F80-0169-F0F9-6F804EC1EC87}"/>
              </a:ext>
            </a:extLst>
          </p:cNvPr>
          <p:cNvSpPr txBox="1"/>
          <p:nvPr/>
        </p:nvSpPr>
        <p:spPr>
          <a:xfrm>
            <a:off x="1333499" y="3059668"/>
            <a:ext cx="448070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Altair é uma biblioteca baseada na chamada </a:t>
            </a:r>
            <a:r>
              <a:rPr lang="pt-BR" sz="2000" b="1" u="sng" dirty="0"/>
              <a:t>gramática da visualização</a:t>
            </a:r>
            <a:r>
              <a:rPr lang="pt-BR" dirty="0"/>
              <a:t>. Em vez de desenhar gráficos passo a passo, o desenvolvedor </a:t>
            </a:r>
            <a:r>
              <a:rPr lang="pt-BR" sz="2000" b="1" u="sng" dirty="0"/>
              <a:t>descreve o que os dados representam</a:t>
            </a:r>
            <a:r>
              <a:rPr lang="pt-BR" dirty="0"/>
              <a:t> (ex: eixo X, eixo Y, cor, tamanho) e a biblioteca decide como renderizar isso visualmente.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74BA05C-C96F-1DE0-59FF-2FECA81D1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499" y="2525722"/>
            <a:ext cx="3263975" cy="35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23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F29FB-304E-13A8-6D92-A0E2F1324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290CB-0909-5DAF-F3A1-E8CD59DCE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7172146" cy="1325563"/>
          </a:xfrm>
        </p:spPr>
        <p:txBody>
          <a:bodyPr rtlCol="0" anchor="t">
            <a:normAutofit/>
          </a:bodyPr>
          <a:lstStyle/>
          <a:p>
            <a:r>
              <a:rPr lang="pt-BR" dirty="0"/>
              <a:t>Gráficos Nativos do </a:t>
            </a:r>
            <a:r>
              <a:rPr lang="pt-BR" dirty="0" err="1"/>
              <a:t>Streamlit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B3D0738-2693-2C35-8CE0-046C62664C4E}"/>
              </a:ext>
            </a:extLst>
          </p:cNvPr>
          <p:cNvSpPr txBox="1"/>
          <p:nvPr/>
        </p:nvSpPr>
        <p:spPr>
          <a:xfrm>
            <a:off x="1333499" y="1984226"/>
            <a:ext cx="6098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Utilizam o Altair como mecanismo de renderização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AEC12FF-A504-6C34-12BD-3B36210827C1}"/>
              </a:ext>
            </a:extLst>
          </p:cNvPr>
          <p:cNvSpPr txBox="1"/>
          <p:nvPr/>
        </p:nvSpPr>
        <p:spPr>
          <a:xfrm>
            <a:off x="1333499" y="3059668"/>
            <a:ext cx="448070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Altair é uma biblioteca baseada na chamada </a:t>
            </a:r>
            <a:r>
              <a:rPr lang="pt-BR" sz="2000" b="1" u="sng" dirty="0"/>
              <a:t>gramática da visualização</a:t>
            </a:r>
            <a:r>
              <a:rPr lang="pt-BR" dirty="0"/>
              <a:t>. Em vez de desenhar gráficos passo a passo, o desenvolvedor </a:t>
            </a:r>
            <a:r>
              <a:rPr lang="pt-BR" sz="2000" b="1" u="sng" dirty="0"/>
              <a:t>descreve o que os dados representam</a:t>
            </a:r>
            <a:r>
              <a:rPr lang="pt-BR" dirty="0"/>
              <a:t> (ex: eixo X, eixo Y, cor, tamanho) e a biblioteca decide como renderizar isso visualmente.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E41B81A-32DD-800A-4F94-D74E46DA3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499" y="2525722"/>
            <a:ext cx="3263975" cy="354231"/>
          </a:xfrm>
          <a:prstGeom prst="rect">
            <a:avLst/>
          </a:prstGeom>
        </p:spPr>
      </p:pic>
      <p:pic>
        <p:nvPicPr>
          <p:cNvPr id="4" name="Imagem 3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32510763-4785-AA49-9516-9B9D4AE97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204" y="3548988"/>
            <a:ext cx="6168327" cy="114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934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2746B-AC54-09BC-470F-37225497C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D5AB8DE6-993A-C4B3-3E43-13D712EE8204}"/>
              </a:ext>
            </a:extLst>
          </p:cNvPr>
          <p:cNvSpPr txBox="1">
            <a:spLocks/>
          </p:cNvSpPr>
          <p:nvPr/>
        </p:nvSpPr>
        <p:spPr>
          <a:xfrm>
            <a:off x="2971798" y="873024"/>
            <a:ext cx="717214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Gráficos Nativos do </a:t>
            </a:r>
            <a:r>
              <a:rPr lang="pt-BR" dirty="0" err="1"/>
              <a:t>Streamlit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EAF77FF-630C-C065-85DD-8067B88FCF7D}"/>
              </a:ext>
            </a:extLst>
          </p:cNvPr>
          <p:cNvSpPr txBox="1"/>
          <p:nvPr/>
        </p:nvSpPr>
        <p:spPr>
          <a:xfrm>
            <a:off x="2509927" y="2198587"/>
            <a:ext cx="8095889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Essa característica é especialmente importante em três cenários: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Prototipação rápida</a:t>
            </a:r>
            <a:r>
              <a:rPr lang="pt-BR" dirty="0"/>
              <a:t>: quando o objetivo é validar uma hipótese, testar uma ideia de produto ou demonstrar rapidamente um insight.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 err="1"/>
              <a:t>MVPs</a:t>
            </a:r>
            <a:r>
              <a:rPr lang="pt-BR" b="1" dirty="0"/>
              <a:t> (</a:t>
            </a:r>
            <a:r>
              <a:rPr lang="pt-BR" b="1" dirty="0" err="1"/>
              <a:t>Minimum</a:t>
            </a:r>
            <a:r>
              <a:rPr lang="pt-BR" b="1" dirty="0"/>
              <a:t> </a:t>
            </a:r>
            <a:r>
              <a:rPr lang="pt-BR" b="1" dirty="0" err="1"/>
              <a:t>Viable</a:t>
            </a:r>
            <a:r>
              <a:rPr lang="pt-BR" b="1" dirty="0"/>
              <a:t> </a:t>
            </a:r>
            <a:r>
              <a:rPr lang="pt-BR" b="1" dirty="0" err="1"/>
              <a:t>Products</a:t>
            </a:r>
            <a:r>
              <a:rPr lang="pt-BR" b="1" dirty="0"/>
              <a:t>): </a:t>
            </a:r>
            <a:r>
              <a:rPr lang="pt-BR" dirty="0"/>
              <a:t>quando velocidade de entrega é mais importante do que customização avançada.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Aplicações internas e dashboards operacionais</a:t>
            </a:r>
            <a:r>
              <a:rPr lang="pt-BR" dirty="0"/>
              <a:t>: onde clareza e manutenção simples são prioridades.</a:t>
            </a:r>
          </a:p>
        </p:txBody>
      </p:sp>
    </p:spTree>
    <p:extLst>
      <p:ext uri="{BB962C8B-B14F-4D97-AF65-F5344CB8AC3E}">
        <p14:creationId xmlns:p14="http://schemas.microsoft.com/office/powerpoint/2010/main" val="1453989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87628-6198-6DDF-F495-4F79C4A34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61B5373F-D5E4-65FD-2A6D-E379C672C165}"/>
              </a:ext>
            </a:extLst>
          </p:cNvPr>
          <p:cNvSpPr txBox="1">
            <a:spLocks/>
          </p:cNvSpPr>
          <p:nvPr/>
        </p:nvSpPr>
        <p:spPr>
          <a:xfrm>
            <a:off x="2971798" y="873024"/>
            <a:ext cx="717214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Gráficos Nativos do </a:t>
            </a:r>
            <a:r>
              <a:rPr lang="pt-BR" dirty="0" err="1"/>
              <a:t>Streamlit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7485734-052C-5C69-DAB5-8ACF92CEA5EE}"/>
              </a:ext>
            </a:extLst>
          </p:cNvPr>
          <p:cNvSpPr txBox="1"/>
          <p:nvPr/>
        </p:nvSpPr>
        <p:spPr>
          <a:xfrm>
            <a:off x="2509927" y="2198587"/>
            <a:ext cx="8095889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Trade-offs dos gráficos nativos: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Menor controle sobre estilos específicos.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Menor capacidade de customização avançada.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Interatividade mais simples comparada a bibliotecas como </a:t>
            </a:r>
            <a:r>
              <a:rPr lang="pt-BR" dirty="0" err="1"/>
              <a:t>Plotly</a:t>
            </a:r>
            <a:r>
              <a:rPr lang="pt-B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Menor controle fino sobre </a:t>
            </a:r>
            <a:r>
              <a:rPr lang="pt-BR" dirty="0" err="1"/>
              <a:t>tooltips</a:t>
            </a:r>
            <a:r>
              <a:rPr lang="pt-BR" dirty="0"/>
              <a:t> e camadas complexas.</a:t>
            </a:r>
          </a:p>
        </p:txBody>
      </p:sp>
    </p:spTree>
    <p:extLst>
      <p:ext uri="{BB962C8B-B14F-4D97-AF65-F5344CB8AC3E}">
        <p14:creationId xmlns:p14="http://schemas.microsoft.com/office/powerpoint/2010/main" val="1127114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F5D3B-7ED7-E582-66E1-4DC859867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E1D62BC-4CC4-E3FA-D481-6AD4EADA9A4F}"/>
              </a:ext>
            </a:extLst>
          </p:cNvPr>
          <p:cNvSpPr txBox="1">
            <a:spLocks/>
          </p:cNvSpPr>
          <p:nvPr/>
        </p:nvSpPr>
        <p:spPr>
          <a:xfrm>
            <a:off x="2971798" y="873024"/>
            <a:ext cx="717214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Gráficos Nativos do </a:t>
            </a:r>
            <a:r>
              <a:rPr lang="pt-BR" dirty="0" err="1"/>
              <a:t>Streamlit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740B568-FE9E-91E6-6DBB-3CAD843C436C}"/>
              </a:ext>
            </a:extLst>
          </p:cNvPr>
          <p:cNvSpPr txBox="1"/>
          <p:nvPr/>
        </p:nvSpPr>
        <p:spPr>
          <a:xfrm>
            <a:off x="2509927" y="2198587"/>
            <a:ext cx="809588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Quando usar gráficos nativos: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Você quer visualizar rapidamente um </a:t>
            </a:r>
            <a:r>
              <a:rPr lang="pt-BR" dirty="0" err="1"/>
              <a:t>DataFrame</a:t>
            </a:r>
            <a:r>
              <a:rPr lang="pt-B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layout precisa ser simples e limpo.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aplicação é voltada para uso interno.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gráfico não exige interações complexas.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objetivo é análise exploratória.</a:t>
            </a:r>
          </a:p>
        </p:txBody>
      </p:sp>
    </p:spTree>
    <p:extLst>
      <p:ext uri="{BB962C8B-B14F-4D97-AF65-F5344CB8AC3E}">
        <p14:creationId xmlns:p14="http://schemas.microsoft.com/office/powerpoint/2010/main" val="2464221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Gráficos Avançados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1DDDEF-20C4-4F65-BAC9-0A763DF7E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0169" y="1999072"/>
            <a:ext cx="5706155" cy="1429928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>
              <a:lnSpc>
                <a:spcPct val="170000"/>
              </a:lnSpc>
            </a:pPr>
            <a:r>
              <a:rPr lang="pt-BR" cap="none" dirty="0"/>
              <a:t>Quando o projeto sai do MVP e vira produto, os gráficos nativos tendem a não ser suficientes. </a:t>
            </a:r>
          </a:p>
          <a:p>
            <a:pPr>
              <a:lnSpc>
                <a:spcPct val="170000"/>
              </a:lnSpc>
            </a:pPr>
            <a:r>
              <a:rPr lang="pt-BR" cap="none" dirty="0"/>
              <a:t>É aqui que entram as bibliotecas externas.</a:t>
            </a:r>
          </a:p>
        </p:txBody>
      </p:sp>
    </p:spTree>
    <p:extLst>
      <p:ext uri="{BB962C8B-B14F-4D97-AF65-F5344CB8AC3E}">
        <p14:creationId xmlns:p14="http://schemas.microsoft.com/office/powerpoint/2010/main" val="127417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DEE3C-6D6C-E5AF-3C67-BB69D69AD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71CB99-6E5E-1B98-98E3-DDBC10879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792" y="479911"/>
            <a:ext cx="6521348" cy="846301"/>
          </a:xfrm>
        </p:spPr>
        <p:txBody>
          <a:bodyPr rtlCol="0">
            <a:normAutofit fontScale="90000"/>
          </a:bodyPr>
          <a:lstStyle/>
          <a:p>
            <a:pPr rtl="0"/>
            <a:r>
              <a:rPr lang="pt-BR" dirty="0" err="1"/>
              <a:t>Plotly</a:t>
            </a:r>
            <a:r>
              <a:rPr lang="pt-BR" dirty="0"/>
              <a:t> --- Interatividade completa</a:t>
            </a:r>
          </a:p>
        </p:txBody>
      </p:sp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CE2F6175-8D9A-DD6A-D0BF-4C857B7C3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361" y="1751730"/>
            <a:ext cx="7704211" cy="498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888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9A775-9AC6-E426-D5CC-42CE54656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5EC516-FE78-A76A-E2E8-9D7B8A06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792" y="479911"/>
            <a:ext cx="6521348" cy="846301"/>
          </a:xfrm>
        </p:spPr>
        <p:txBody>
          <a:bodyPr rtlCol="0">
            <a:normAutofit fontScale="90000"/>
          </a:bodyPr>
          <a:lstStyle/>
          <a:p>
            <a:pPr rtl="0"/>
            <a:r>
              <a:rPr lang="pt-BR" dirty="0"/>
              <a:t>Altair --- Gramática declarativa</a:t>
            </a:r>
          </a:p>
        </p:txBody>
      </p:sp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4750EC2A-66C9-FEFE-8486-9BB830DED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13" y="1087384"/>
            <a:ext cx="10900352" cy="529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0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1EF3A-DCDC-E843-9E67-8AF0D603B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030DC-2192-6923-B9D1-7E515BDF9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792" y="479911"/>
            <a:ext cx="6521348" cy="846301"/>
          </a:xfrm>
        </p:spPr>
        <p:txBody>
          <a:bodyPr rtlCol="0">
            <a:normAutofit/>
          </a:bodyPr>
          <a:lstStyle/>
          <a:p>
            <a:pPr rtl="0"/>
            <a:r>
              <a:rPr lang="pt-BR" dirty="0" err="1"/>
              <a:t>Matplotlib</a:t>
            </a:r>
            <a:endParaRPr lang="pt-BR" dirty="0"/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9A238151-AC22-6CC3-CE9F-4E17B6513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522" y="1196358"/>
            <a:ext cx="8700955" cy="536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156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71188AF-1B8F-40DD-90B1-DC0F52BA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lIns="0" rtlCol="0"/>
          <a:lstStyle/>
          <a:p>
            <a:pPr rtl="0"/>
            <a:r>
              <a:rPr lang="pt-BR" dirty="0"/>
              <a:t>Gráficos</a:t>
            </a:r>
          </a:p>
        </p:txBody>
      </p:sp>
      <p:graphicFrame>
        <p:nvGraphicFramePr>
          <p:cNvPr id="53" name="Tabela 50">
            <a:extLst>
              <a:ext uri="{FF2B5EF4-FFF2-40B4-BE49-F238E27FC236}">
                <a16:creationId xmlns:a16="http://schemas.microsoft.com/office/drawing/2014/main" id="{7EB17215-3702-4854-86F9-086DB8BCA17E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3152170988"/>
              </p:ext>
            </p:extLst>
          </p:nvPr>
        </p:nvGraphicFramePr>
        <p:xfrm>
          <a:off x="838200" y="1415143"/>
          <a:ext cx="1120427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5121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7039154">
                  <a:extLst>
                    <a:ext uri="{9D8B030D-6E8A-4147-A177-3AD203B41FA5}">
                      <a16:colId xmlns:a16="http://schemas.microsoft.com/office/drawing/2014/main" val="228404315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endParaRPr lang="pt-BR" sz="2400" b="1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800" b="0" cap="all" spc="15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/>
                      <a:endParaRPr lang="pt-BR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600" b="1" kern="12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Papel no Sistema de IA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/>
                      <a:r>
                        <a:rPr lang="pt-BR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DataFrame</a:t>
                      </a:r>
                      <a:endParaRPr lang="pt-BR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Análise exploratória e </a:t>
                      </a:r>
                      <a:r>
                        <a:rPr lang="pt-BR" sz="1600" noProof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debugging</a:t>
                      </a:r>
                      <a:endParaRPr lang="pt-BR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74248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/>
                      <a:r>
                        <a:rPr lang="pt-B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</a:t>
                      </a:r>
                      <a:endParaRPr lang="pt-BR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Tabela fixa, sem interações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86097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/>
                      <a:r>
                        <a:rPr lang="pt-B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Gráficos Nativos</a:t>
                      </a:r>
                      <a:endParaRPr lang="pt-BR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Prototipação rápida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12122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/>
                      <a:r>
                        <a:rPr lang="pt-BR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Plotly</a:t>
                      </a:r>
                      <a:endParaRPr lang="pt-BR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interatividade e dashboards modernos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2317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/>
                      <a:r>
                        <a:rPr lang="pt-B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Altair</a:t>
                      </a:r>
                      <a:endParaRPr lang="pt-BR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gramática declarativa e controle estatístico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7873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Matplotlib</a:t>
                      </a:r>
                      <a:endParaRPr lang="pt-BR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tradição científica e customização manual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16932"/>
                  </a:ext>
                </a:extLst>
              </a:tr>
            </a:tbl>
          </a:graphicData>
        </a:graphic>
      </p:graphicFrame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B98F823A-E7BB-4668-930B-C119B7771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178143" y="0"/>
            <a:ext cx="2013857" cy="1415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173C4F3-0B20-4720-9910-82CE4DCE4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52114" y="0"/>
            <a:ext cx="3439886" cy="5769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871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23</a:t>
            </a:fld>
            <a:endParaRPr lang="pt-BR"/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3FEE16FE-42BD-2705-84B0-117D39699A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FD4B030A-025E-AB8B-F0CA-DE1F0D3C3F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739</TotalTime>
  <Words>687</Words>
  <Application>Microsoft Office PowerPoint</Application>
  <PresentationFormat>Widescreen</PresentationFormat>
  <Paragraphs>147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Tenorite</vt:lpstr>
      <vt:lpstr>Linha única</vt:lpstr>
      <vt:lpstr>Visualização de Dados Interativa com StreamLit</vt:lpstr>
      <vt:lpstr>Visualização começa antes do gráfico</vt:lpstr>
      <vt:lpstr>Visualização começa antes do gráfico</vt:lpstr>
      <vt:lpstr>st.dataframe() exploração de dados</vt:lpstr>
      <vt:lpstr>st.dataframe() exploração de dados</vt:lpstr>
      <vt:lpstr>st.dataframe() exploração de dados</vt:lpstr>
      <vt:lpstr>st.table() resultados consolidados </vt:lpstr>
      <vt:lpstr>st.table() resultados consolidados </vt:lpstr>
      <vt:lpstr>df.describe() estatísticas descritivas </vt:lpstr>
      <vt:lpstr>Boas práticas em sistemas de IA</vt:lpstr>
      <vt:lpstr>Boas práticas em sistemas de IA</vt:lpstr>
      <vt:lpstr>Gráficos Nativos do Streamlit</vt:lpstr>
      <vt:lpstr>Gráficos Nativos do Streamlit</vt:lpstr>
      <vt:lpstr>Gráficos Nativos do Streamlit</vt:lpstr>
      <vt:lpstr>Apresentação do PowerPoint</vt:lpstr>
      <vt:lpstr>Apresentação do PowerPoint</vt:lpstr>
      <vt:lpstr>Apresentação do PowerPoint</vt:lpstr>
      <vt:lpstr>Gráficos Avançados</vt:lpstr>
      <vt:lpstr>Plotly --- Interatividade completa</vt:lpstr>
      <vt:lpstr>Altair --- Gramática declarativa</vt:lpstr>
      <vt:lpstr>Matplotlib</vt:lpstr>
      <vt:lpstr>Gráficos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Rios</cp:lastModifiedBy>
  <cp:revision>55</cp:revision>
  <dcterms:created xsi:type="dcterms:W3CDTF">2026-02-08T14:58:32Z</dcterms:created>
  <dcterms:modified xsi:type="dcterms:W3CDTF">2026-02-22T17:10:47Z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