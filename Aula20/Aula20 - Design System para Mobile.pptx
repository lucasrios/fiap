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60"/>
  </p:notesMasterIdLst>
  <p:handoutMasterIdLst>
    <p:handoutMasterId r:id="rId61"/>
  </p:handoutMasterIdLst>
  <p:sldIdLst>
    <p:sldId id="256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69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05/10/2026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05/10/2026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21. Pergunta que guia a aula: o Forzy é bom de usar num celular? Esta aula é teórica: constrói o vocabulário e os critérios que a Aula 22 implementa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Aula 2 definimos design system pelos efeitos: consistência, previsibilidade e reuso. Agora, uma definição operacional: do que ele é 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Um design system é um conjunto de </a:t>
            </a:r>
            <a:r>
              <a:rPr dirty="0" err="1"/>
              <a:t>decisões</a:t>
            </a:r>
            <a:r>
              <a:rPr dirty="0"/>
              <a:t> de interface </a:t>
            </a:r>
            <a:r>
              <a:rPr dirty="0" err="1"/>
              <a:t>documentadas</a:t>
            </a:r>
            <a:r>
              <a:rPr dirty="0"/>
              <a:t>, </a:t>
            </a:r>
            <a:r>
              <a:rPr dirty="0" err="1"/>
              <a:t>reutilizáveis</a:t>
            </a:r>
            <a:r>
              <a:rPr dirty="0"/>
              <a:t> e </a:t>
            </a:r>
            <a:r>
              <a:rPr dirty="0" err="1"/>
              <a:t>mantidas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, </a:t>
            </a:r>
            <a:r>
              <a:rPr dirty="0" err="1"/>
              <a:t>organizado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camadas</a:t>
            </a:r>
            <a:r>
              <a:rPr dirty="0"/>
              <a:t>. </a:t>
            </a:r>
            <a:r>
              <a:rPr dirty="0" err="1"/>
              <a:t>Acessibilidade</a:t>
            </a:r>
            <a:r>
              <a:rPr dirty="0"/>
              <a:t> e </a:t>
            </a:r>
            <a:r>
              <a:rPr dirty="0" err="1"/>
              <a:t>governança</a:t>
            </a:r>
            <a:r>
              <a:rPr dirty="0"/>
              <a:t> </a:t>
            </a:r>
            <a:r>
              <a:rPr dirty="0" err="1"/>
              <a:t>atravessam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camadas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confusões comuns. Biblioteca é uma camada; tema é o mecanismo de entrega dos tokens; guia de estilo é estático.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arquitetura em camadas que construímos (providers → pipelines → features, com state) não muda. O que muda é que ui/ deixa de ser só a sidebar e vira o design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Tratar o celular como monitor estreito resolve a largura e ignora todo o resto. São seis condições mudando ao mesmo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Tela, entrada, postura, ambiente, rede e atenção. Para cada uma, uma exigência ao design system (linha em destaque de cada cartão).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Luke Wroblewski, 2011: comece pela tela menor. O argumento é de priorização, não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Uma tela de 360 px não comporta tudo, então obriga a decidir o que importa. Uma de 1920 px comporta tudo, e nada é decidido: o resultado é o dashboard com quatro gráficos, tabela de oito colunas e placa ASCII.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Responsivo: um layout que se reorganiza de forma fluida. Adaptativo: layouts distintos por faixa, escolhidos por breakpoints. O Material Design 3 organiza as faixas em classes de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conceito mais importante da parte 4 para quem programa em Python. O app.py roda no servidor (Render, desde a Aula 20). Não escreva if celular em Python; User-Agent é frágil. A responsividade vem de componentes que se reorganizam sozinhos e de CSS com media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Mesma tela, mesmo código: 2 cards por linha no celular, 5 no notebook. É mobile first de verdade: um layout de coluna única que continua aceitável no desktop. O layout='centered' do Streamlit é essa decisão numa palavra.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Cor, tipografia, espaço, forma e movimento — cada decisão com nome, num lugar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formato padrão, cada token tem $type e $value, e pode referenciar outro entre chaves. Isso permite mudar o tema sem tocar nos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Primitivos: que valores existem. Semânticos: o que o valor significa (é o que os componentes consomem). De componente: decisões específicas, como o alvo de 48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Regra de ouro dos nomes. A diferença para o que você já fez é de onde vem a fonte de verdade: um arquivo Python que gera o config.toml e o tema do Gradio.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cor com significado só pode ter um significado no app. Duas colisões no Forzy: status operacional × severidade (resolvido com linguagem neutra para o status) e ação × aviso (botão laranja disputando com alarme âmbar; a ação vira azul).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ANSI/ISA-101, IHMs de alto desempenho: telas cheias de cor treinam o operador a ignorar cor. Um dashboard com 18 de 20 indicadores verdes comunica ruído e esconde os dois que importam.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WCAG 1.4.1. Cerca de 8% dos homens têm alguma deficiência na percepção de cores; ao sol ou impresso em P&amp;B, a informação também some. Três canais redundantes: forma, texto e cor. Qualquer um sozinho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Razão de 1:1 a 21:1, calculada pela luminância relativa — uma conta simples que a Aula 22 transforma em teste automatizado. Ao sol, o reflexo lava a tela: o Forzy mira texto acima de 7:1 e bordas acima de 3:1.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 Aula 22: o Streamlit força texto branco no botão primário; um azul claro no escuro deu 1,7:1. O teste testava o token, não 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16 px no mínimo (o Safari dá zoom em campo menor). Títulos de tela entre 20 e 24 px. Números tabulares na telemetria. Nunca bloqueie o zoom (WCAG 1.4.4). Fontes do sistema: zero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Escala múltipla de 4 (Material usa 8 com meio-passo de 4). Proximidade agrupa (Gestalt). Margens são caras: 32 px de cada lado no Gradio = 16% da largura; 96 px no topo do Streamlit = 11% da altura.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Raios consistentes comunicam família. Ao sol, bordas com 3:1 sobrevivem; sombras somem. Ícone sempre com rótulo. Animação explica mudança de estado: 100 a 300 ms, e respeitando prefers-reduced-motion.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dedo é menos preciso que o cursor e cobre exatamente o que está tocando.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WCAG 2.5.8 (AA): 24 px é piso legal, não meta. Apple: 44 pt. Material: 48 dp. Para o Forzy — luvas, pressa, uma mão — 48 px. Medido no Forzy original: botões de 40 px, controle segmentado de 32 px, Plotly com 24 px colados.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Não é preciso decorar a fórmula, e sim as consequências. Na versão original, os botões ficavam abaixo de uma tabela de 20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Steven Hoober observou 1.333 pessoas em ruas, aeroportos, pontos de ônibus e cafés. As pessoas mudam de pegada o tempo todo. Navegação principal na base (navigation bar / tab bar), ação primária embaixo ou no meio, destrutivas longe das frequentes.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celular não há tooltip nem cursor de mão. O help= dos widgets só abre com toque deliberado: nada essencial ali. O que é tocável precisa parecer tocável o tempo todo: botão sem borda é texto solto.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 painel com quatro gráficos empilhados, rolar vira tarefa de precisão. Todo gesto precisa de uma alternativa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Streamlit expõe o tipo do teclado em st.text_input(type=...). 'Use o formato MTR-000' junto do campo é muito melhor que um erro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Três destinos usados o tempo todo: Motores, Painel e Sensores.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Barra na base para 3 a 5 destinos frequentes (custa ~56–64 px). Abas no topo para visões irmãs. Trilho em tablets. Gaveta para muitos destinos raros: o escondido é esquecido. Lista → detalhe exige voltar visível. O Forzy é o caso de manual da barra na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Correlação direta com a regra da Aula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nível é uma tela a mais e uma chance a mais de se perder. A ficha técnica é filha de Motores, não um quarto destino. Três seletores em cascata custam seis toques; um seletor com busca custa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?tag=../../etc ou ?pagina=&lt;script&gt; são entrada do usuário. Mesmo princípio de nunca confiar em entrada externa que você aplicou na API com Pydantic.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o essencial; o resto a um toque. Placa e histórico vão para seções recolhidas; a ocorrência vira folha que sobe da base; ficha e edição são abas internas. Também existe st.popover para ações secundárias pontuais.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Tabela é bidimensional; o celular comporta uma dimensão.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 ordem de preferência: card por item (lista de objetos), pares rótulo/valor (ficha de um objeto), rolagem lateral só para dados secundários e com alternativa. WCAG 1.4.10 (Reflow): sem rolagem em duas dimensões a 320 px. A placa ASCII é o caso extremo: depende de largura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Pirâmide invertida do jornalismo: conclusão, porquê em uma frase, números, detalhe. O item 2 é o pilar de transparência da Aula 2 condensado para 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Glanceability: a capacidade de uma tela ser entendida numa olhada. Mostre a tela por dois segundos e pergunte 'o motor está bem?'. Se precisar ler uma tabela para responder, a tela falhou.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Regras para gráficos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Escolhas de texto são decisões tão sistemáticas quanto cores: números no padrão do usuário, unidade colada ao valor, sem redundância, botões com verbos, erros acionáveis, um idioma.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 tela de dados existe em vários estados — e o design system define cada um antes de qualquer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2: 'usuários toleram a espera se entenderem o que está acontecendo; rejeitam silêncio' e 'feedback crítico nunca deve ser apenas um toast'.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celular, desempenho é experiência. O INP substituiu o FID em março de 2024 porque mede todas as interações. Alavancas: cache (Aula 20), evitar N+1, acordar a API com mensagem, nada de recursos externos desnecessários.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Resposta padrão do design system à rede intermitente. A imagem é da Aula 23: o aviso aparece e a leitura antiga fica marcada.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pilares da Aula 2 continuam valendo; muda a forma de cumpri-los em 390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último pilar é o que mais muda: no celular, de luva, cada campo a mais reduz a chance de o feedback chegar — e sem feedback não há dados para melhorar 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 feedback, não existem os dados para melhorar o modelo — o motivo de existir o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celular, quase todo critério do WCAG coincide com boa usabilidade para todos. Mais três cuidados: leitores de tela (TalkBack, VoiceOver), papéis de acessibilidade como contratos estáveis, e não depender de som nem de gestos finos.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Brad Frost. A metáfora decide onde cada coisa mora: átomos, moléculas e organismos reutilizáveis em ui/; templates e páginas nas features/, que orquestram e não desenham nada por conta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Componente recebe dados e decide a aparência consultando os tokens. A API decide que é crítico (regra de negócio, Aula 15); a pipeline organiza; o componente decide a forma. Nenhuma camada invade a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Escrever a especificação antes evita a maior parte das inconsistências — e vira a documentação do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 design system que ninguém mantém se degrada em semanas. Fonte única; testes automatizados de contraste; gerar em vez de copiar; testar o que a tela renderiza; isolar dependências frágeis do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 e tabel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 gráfico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1064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  <p:sldLayoutId id="2147483701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System para Mobile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6419088" y="5586984"/>
            <a:ext cx="49377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77716B"/>
                </a:solidFill>
              </a:rPr>
              <a:t>Lucas Rios · Front-End em Sistemas de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1</a:t>
            </a:r>
            <a:r>
              <a:rPr dirty="0"/>
              <a:t> · O </a:t>
            </a:r>
            <a:r>
              <a:rPr dirty="0" err="1"/>
              <a:t>que</a:t>
            </a:r>
            <a:r>
              <a:rPr dirty="0"/>
              <a:t> é um design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que um design system é feito</a:t>
            </a:r>
          </a:p>
        </p:txBody>
      </p:sp>
      <p:pic>
        <p:nvPicPr>
          <p:cNvPr id="4" name="f12_camadas_ds" descr="f12_camadas_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62128"/>
            <a:ext cx="10515600" cy="3882382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Decisões de interface </a:t>
            </a:r>
            <a:r>
              <a:rPr sz="1500" b="1">
                <a:solidFill>
                  <a:srgbClr val="77716B"/>
                </a:solidFill>
              </a:rPr>
              <a:t>documentadas, reutilizáveis e mantidas como produto</a:t>
            </a:r>
          </a:p>
        </p:txBody>
      </p:sp>
      <p:sp>
        <p:nvSpPr>
          <p:cNvPr id="6" name="Correlação"/>
          <p:cNvSpPr/>
          <p:nvPr/>
        </p:nvSpPr>
        <p:spPr>
          <a:xfrm>
            <a:off x="8595360" y="384048"/>
            <a:ext cx="2761488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UX e DS para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não é design system</a:t>
            </a:r>
          </a:p>
        </p:txBody>
      </p:sp>
      <p:sp>
        <p:nvSpPr>
          <p:cNvPr id="3" name="Cartão"/>
          <p:cNvSpPr/>
          <p:nvPr/>
        </p:nvSpPr>
        <p:spPr>
          <a:xfrm>
            <a:off x="868680" y="2468880"/>
            <a:ext cx="32918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ic_boxes" descr="ic_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70048"/>
            <a:ext cx="566928" cy="566928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1737360" y="2633472"/>
            <a:ext cx="22860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Biblioteca de componentes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1051560" y="3337560"/>
            <a:ext cx="297180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É </a:t>
            </a:r>
            <a:r>
              <a:rPr sz="1500" b="1">
                <a:solidFill>
                  <a:srgbClr val="404040"/>
                </a:solidFill>
              </a:rPr>
              <a:t>uma camada</a:t>
            </a:r>
            <a:r>
              <a:rPr sz="1500" b="0">
                <a:solidFill>
                  <a:srgbClr val="404040"/>
                </a:solidFill>
              </a:rPr>
              <a:t> do sistema.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Sem princípios, gera telas consistentes no visual e </a:t>
            </a:r>
            <a:r>
              <a:rPr sz="1500" b="1">
                <a:solidFill>
                  <a:srgbClr val="404040"/>
                </a:solidFill>
              </a:rPr>
              <a:t>incoerentes no comportamento</a:t>
            </a:r>
            <a:r>
              <a:rPr sz="1500" b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7" name="Cartão"/>
          <p:cNvSpPr/>
          <p:nvPr/>
        </p:nvSpPr>
        <p:spPr>
          <a:xfrm>
            <a:off x="4434840" y="2468880"/>
            <a:ext cx="32918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ic_palette" descr="ic_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70048"/>
            <a:ext cx="566928" cy="566928"/>
          </a:xfrm>
          <a:prstGeom prst="rect">
            <a:avLst/>
          </a:prstGeom>
        </p:spPr>
      </p:pic>
      <p:sp>
        <p:nvSpPr>
          <p:cNvPr id="9" name="Texto"/>
          <p:cNvSpPr txBox="1"/>
          <p:nvPr/>
        </p:nvSpPr>
        <p:spPr>
          <a:xfrm>
            <a:off x="5303520" y="2633472"/>
            <a:ext cx="22860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Tema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4617720" y="3337560"/>
            <a:ext cx="297180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O </a:t>
            </a:r>
            <a:r>
              <a:rPr sz="1500" b="1">
                <a:solidFill>
                  <a:srgbClr val="404040"/>
                </a:solidFill>
              </a:rPr>
              <a:t>[theme]</a:t>
            </a:r>
            <a:r>
              <a:rPr sz="1500" b="0">
                <a:solidFill>
                  <a:srgbClr val="404040"/>
                </a:solidFill>
              </a:rPr>
              <a:t> do Streamlit e o </a:t>
            </a:r>
            <a:r>
              <a:rPr sz="1500" b="1">
                <a:solidFill>
                  <a:srgbClr val="404040"/>
                </a:solidFill>
              </a:rPr>
              <a:t>gr.themes</a:t>
            </a:r>
            <a:r>
              <a:rPr sz="1500" b="0">
                <a:solidFill>
                  <a:srgbClr val="404040"/>
                </a:solidFill>
              </a:rPr>
              <a:t> do Gradio </a:t>
            </a:r>
            <a:r>
              <a:rPr sz="1500" b="1">
                <a:solidFill>
                  <a:srgbClr val="404040"/>
                </a:solidFill>
              </a:rPr>
              <a:t>entregam</a:t>
            </a:r>
            <a:r>
              <a:rPr sz="1500" b="0">
                <a:solidFill>
                  <a:srgbClr val="404040"/>
                </a:solidFill>
              </a:rPr>
              <a:t> os tokens.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Trocar o tema troca cores; não decide que “crítico” tem forma própria.</a:t>
            </a:r>
          </a:p>
        </p:txBody>
      </p:sp>
      <p:sp>
        <p:nvSpPr>
          <p:cNvPr id="11" name="Cartão"/>
          <p:cNvSpPr/>
          <p:nvPr/>
        </p:nvSpPr>
        <p:spPr>
          <a:xfrm>
            <a:off x="8001000" y="2468880"/>
            <a:ext cx="32918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ic_bookopen" descr="ic_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2670048"/>
            <a:ext cx="566928" cy="566928"/>
          </a:xfrm>
          <a:prstGeom prst="rect">
            <a:avLst/>
          </a:prstGeom>
        </p:spPr>
      </p:pic>
      <p:sp>
        <p:nvSpPr>
          <p:cNvPr id="13" name="Texto"/>
          <p:cNvSpPr txBox="1"/>
          <p:nvPr/>
        </p:nvSpPr>
        <p:spPr>
          <a:xfrm>
            <a:off x="8869680" y="2633472"/>
            <a:ext cx="22860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Guia de estilo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8183879" y="3337560"/>
            <a:ext cx="297180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Um PDF com a paleta da marca é </a:t>
            </a:r>
            <a:r>
              <a:rPr sz="1500" b="1">
                <a:solidFill>
                  <a:srgbClr val="404040"/>
                </a:solidFill>
              </a:rPr>
              <a:t>estático</a:t>
            </a:r>
            <a:r>
              <a:rPr sz="1500" b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Um design system é </a:t>
            </a:r>
            <a:r>
              <a:rPr sz="1500" b="1">
                <a:solidFill>
                  <a:srgbClr val="404040"/>
                </a:solidFill>
              </a:rPr>
              <a:t>código vivo</a:t>
            </a:r>
            <a:r>
              <a:rPr sz="1500" b="0">
                <a:solidFill>
                  <a:srgbClr val="404040"/>
                </a:solidFill>
              </a:rPr>
              <a:t> que as telas consomem.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No Python, o design system é código</a:t>
            </a:r>
          </a:p>
        </p:txBody>
      </p:sp>
      <p:pic>
        <p:nvPicPr>
          <p:cNvPr id="3" name="f14_arquitetura" descr="f14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43834"/>
            <a:ext cx="5212080" cy="501605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Num front-end de IA feito em Python, o design system </a:t>
            </a:r>
            <a:r>
              <a:rPr sz="1600" b="1">
                <a:solidFill>
                  <a:srgbClr val="404040"/>
                </a:solidFill>
              </a:rPr>
              <a:t>mora na camada ui/</a:t>
            </a:r>
            <a:r>
              <a:rPr sz="1600" b="0">
                <a:solidFill>
                  <a:srgbClr val="404040"/>
                </a:solidFill>
              </a:rPr>
              <a:t> da arquitetura.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Tokens</a:t>
            </a:r>
            <a:r>
              <a:rPr sz="1600" b="0">
                <a:solidFill>
                  <a:srgbClr val="404040"/>
                </a:solidFill>
              </a:rPr>
              <a:t> decidem cor, espaço, toque.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Componentes</a:t>
            </a:r>
            <a:r>
              <a:rPr sz="1600" b="0">
                <a:solidFill>
                  <a:srgbClr val="404040"/>
                </a:solidFill>
              </a:rPr>
              <a:t> recebem dados e decidem a forma.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Features</a:t>
            </a:r>
            <a:r>
              <a:rPr sz="1600" b="0">
                <a:solidFill>
                  <a:srgbClr val="404040"/>
                </a:solidFill>
              </a:rPr>
              <a:t> só orquestram: nunca escolhem cor.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É por isso que a camada ui/ foi separada lá atrás.</a:t>
            </a:r>
          </a:p>
        </p:txBody>
      </p:sp>
      <p:sp>
        <p:nvSpPr>
          <p:cNvPr id="5" name="Correlação"/>
          <p:cNvSpPr/>
          <p:nvPr/>
        </p:nvSpPr>
        <p:spPr>
          <a:xfrm>
            <a:off x="5925312" y="6053328"/>
            <a:ext cx="3433572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6 · arquitetura em camadas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2</a:t>
            </a:r>
            <a:r>
              <a:rPr dirty="0"/>
              <a:t> · Mobile </a:t>
            </a:r>
            <a:r>
              <a:rPr dirty="0" err="1"/>
              <a:t>não</a:t>
            </a:r>
            <a:r>
              <a:rPr dirty="0"/>
              <a:t> é um desktop </a:t>
            </a:r>
            <a:r>
              <a:rPr dirty="0" err="1"/>
              <a:t>menor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Seis condições mudam ao mesmo tempo</a:t>
            </a:r>
          </a:p>
        </p:txBody>
      </p:sp>
      <p:pic>
        <p:nvPicPr>
          <p:cNvPr id="4" name="f16_seis" descr="f16_se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6816"/>
            <a:ext cx="10515600" cy="3655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3</a:t>
            </a:r>
            <a:r>
              <a:rPr dirty="0"/>
              <a:t> · Mobile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Comece pela tela menor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1362456" y="3657600"/>
            <a:ext cx="493776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Luke Wroblewski (2011): o celular </a:t>
            </a:r>
            <a:r>
              <a:rPr sz="1600" b="1">
                <a:solidFill>
                  <a:srgbClr val="404040"/>
                </a:solidFill>
              </a:rPr>
              <a:t>obriga a decidir</a:t>
            </a:r>
            <a:r>
              <a:rPr sz="1600" b="0">
                <a:solidFill>
                  <a:srgbClr val="404040"/>
                </a:solidFill>
              </a:rPr>
              <a:t> o que importa.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Começar pequeno gera um núcleo enxuto; </a:t>
            </a:r>
            <a:r>
              <a:rPr sz="1600" b="1">
                <a:solidFill>
                  <a:srgbClr val="404040"/>
                </a:solidFill>
              </a:rPr>
              <a:t>acrescentar</a:t>
            </a:r>
            <a:r>
              <a:rPr sz="1600" b="0">
                <a:solidFill>
                  <a:srgbClr val="404040"/>
                </a:solidFill>
              </a:rPr>
              <a:t> para telas maiores é fácil — </a:t>
            </a:r>
            <a:r>
              <a:rPr sz="1600" b="1">
                <a:solidFill>
                  <a:srgbClr val="404040"/>
                </a:solidFill>
              </a:rPr>
              <a:t>remover</a:t>
            </a:r>
            <a:r>
              <a:rPr sz="1600" b="0">
                <a:solidFill>
                  <a:srgbClr val="404040"/>
                </a:solidFill>
              </a:rPr>
              <a:t> depois é doloroso.</a:t>
            </a:r>
          </a:p>
        </p:txBody>
      </p:sp>
      <p:pic>
        <p:nvPicPr>
          <p:cNvPr id="4" name="f20_mobile_first" descr="f20_mobile_fi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899339"/>
            <a:ext cx="5120640" cy="51507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de tamanho de janela</a:t>
            </a:r>
          </a:p>
        </p:txBody>
      </p:sp>
      <p:pic>
        <p:nvPicPr>
          <p:cNvPr id="3" name="f21_classes" descr="f21_classes.png"/>
          <p:cNvPicPr>
            <a:picLocks noChangeAspect="1"/>
          </p:cNvPicPr>
          <p:nvPr/>
        </p:nvPicPr>
        <p:blipFill>
          <a:blip r:embed="rId3"/>
          <a:srcRect b="43423"/>
          <a:stretch>
            <a:fillRect/>
          </a:stretch>
        </p:blipFill>
        <p:spPr>
          <a:xfrm>
            <a:off x="841248" y="2074655"/>
            <a:ext cx="10515600" cy="1325564"/>
          </a:xfrm>
          <a:prstGeom prst="rect">
            <a:avLst/>
          </a:prstGeom>
        </p:spPr>
      </p:pic>
      <p:sp>
        <p:nvSpPr>
          <p:cNvPr id="4" name="Cartão"/>
          <p:cNvSpPr/>
          <p:nvPr/>
        </p:nvSpPr>
        <p:spPr>
          <a:xfrm>
            <a:off x="841248" y="498348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o"/>
          <p:cNvSpPr txBox="1"/>
          <p:nvPr/>
        </p:nvSpPr>
        <p:spPr>
          <a:xfrm>
            <a:off x="1024128" y="5148072"/>
            <a:ext cx="48005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04040"/>
                </a:solidFill>
              </a:rPr>
              <a:t>Responsivo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1024128" y="5550408"/>
            <a:ext cx="4800600" cy="667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Um layout que </a:t>
            </a:r>
            <a:r>
              <a:rPr sz="1500" b="1">
                <a:solidFill>
                  <a:srgbClr val="404040"/>
                </a:solidFill>
              </a:rPr>
              <a:t>se reorganiza</a:t>
            </a:r>
            <a:r>
              <a:rPr sz="1500" b="0">
                <a:solidFill>
                  <a:srgbClr val="404040"/>
                </a:solidFill>
              </a:rPr>
              <a:t> conforme a largura: colunas empilham, cards quebram linha.</a:t>
            </a:r>
          </a:p>
        </p:txBody>
      </p:sp>
      <p:sp>
        <p:nvSpPr>
          <p:cNvPr id="7" name="Cartão"/>
          <p:cNvSpPr/>
          <p:nvPr/>
        </p:nvSpPr>
        <p:spPr>
          <a:xfrm>
            <a:off x="6236208" y="498348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o"/>
          <p:cNvSpPr txBox="1"/>
          <p:nvPr/>
        </p:nvSpPr>
        <p:spPr>
          <a:xfrm>
            <a:off x="6419088" y="5148072"/>
            <a:ext cx="48005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04040"/>
                </a:solidFill>
              </a:rPr>
              <a:t>Adaptativo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6419088" y="5550408"/>
            <a:ext cx="4800600" cy="6675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04040"/>
                </a:solidFill>
              </a:rPr>
              <a:t>Layouts </a:t>
            </a:r>
            <a:r>
              <a:rPr sz="1500" b="1">
                <a:solidFill>
                  <a:srgbClr val="404040"/>
                </a:solidFill>
              </a:rPr>
              <a:t>distintos por faixa</a:t>
            </a:r>
            <a:r>
              <a:rPr sz="1500" b="0">
                <a:solidFill>
                  <a:srgbClr val="404040"/>
                </a:solidFill>
              </a:rPr>
              <a:t>, escolhidos por pontos de quebra (*breakpoints*).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Python não sabe a largura da tela</a:t>
            </a:r>
          </a:p>
        </p:txBody>
      </p:sp>
      <p:pic>
        <p:nvPicPr>
          <p:cNvPr id="4" name="f22_python_largura" descr="f22_python_larg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540" y="1554480"/>
            <a:ext cx="7401014" cy="2926080"/>
          </a:xfrm>
          <a:prstGeom prst="rect">
            <a:avLst/>
          </a:prstGeom>
        </p:spPr>
      </p:pic>
      <p:sp>
        <p:nvSpPr>
          <p:cNvPr id="5" name="Cartão"/>
          <p:cNvSpPr/>
          <p:nvPr/>
        </p:nvSpPr>
        <p:spPr>
          <a:xfrm>
            <a:off x="841248" y="4617720"/>
            <a:ext cx="32918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o"/>
          <p:cNvSpPr txBox="1"/>
          <p:nvPr/>
        </p:nvSpPr>
        <p:spPr>
          <a:xfrm>
            <a:off x="1024128" y="4782312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04040"/>
                </a:solidFill>
              </a:rPr>
              <a:t>Nada de if celular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1024128" y="5184648"/>
            <a:ext cx="2971800" cy="10332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</a:rPr>
              <a:t>Adivinhar pelo User-Agent é frágil: tablets, modo desktop, janelas redimensionadas.</a:t>
            </a:r>
          </a:p>
        </p:txBody>
      </p:sp>
      <p:sp>
        <p:nvSpPr>
          <p:cNvPr id="8" name="Cartão"/>
          <p:cNvSpPr/>
          <p:nvPr/>
        </p:nvSpPr>
        <p:spPr>
          <a:xfrm>
            <a:off x="4407408" y="4617720"/>
            <a:ext cx="32918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o"/>
          <p:cNvSpPr txBox="1"/>
          <p:nvPr/>
        </p:nvSpPr>
        <p:spPr>
          <a:xfrm>
            <a:off x="4590288" y="4782312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04040"/>
                </a:solidFill>
              </a:rPr>
              <a:t>Componentes fluidos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4590288" y="5184648"/>
            <a:ext cx="2971800" cy="10332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</a:rPr>
              <a:t>st.columns empilha, gr.Row quebra pelo min_width, grades com largura mínima.</a:t>
            </a:r>
          </a:p>
        </p:txBody>
      </p:sp>
      <p:sp>
        <p:nvSpPr>
          <p:cNvPr id="11" name="Cartão"/>
          <p:cNvSpPr/>
          <p:nvPr/>
        </p:nvSpPr>
        <p:spPr>
          <a:xfrm>
            <a:off x="7973568" y="4617720"/>
            <a:ext cx="32918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o"/>
          <p:cNvSpPr txBox="1"/>
          <p:nvPr/>
        </p:nvSpPr>
        <p:spPr>
          <a:xfrm>
            <a:off x="8156448" y="4782312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04040"/>
                </a:solidFill>
              </a:rPr>
              <a:t>CSS só onde precisa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8156448" y="5184648"/>
            <a:ext cx="2971800" cy="10332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</a:rPr>
              <a:t>Media queries para o que só faz sentido numa faixa: navegação na base, no celular.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que se reorganizam sozinhos</a:t>
            </a:r>
          </a:p>
        </p:txBody>
      </p:sp>
      <p:pic>
        <p:nvPicPr>
          <p:cNvPr id="3" name="f23_reflow" descr="f23_re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22" y="1600200"/>
            <a:ext cx="1032185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4</a:t>
            </a:r>
            <a:r>
              <a:rPr dirty="0"/>
              <a:t> · Tokens e </a:t>
            </a:r>
            <a:r>
              <a:rPr dirty="0" err="1"/>
              <a:t>fundamentos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Design token: uma decisão com nome</a:t>
            </a:r>
          </a:p>
        </p:txBody>
      </p:sp>
      <p:pic>
        <p:nvPicPr>
          <p:cNvPr id="3" name="f25_json" descr="f25_j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15818"/>
            <a:ext cx="5212080" cy="3072083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27843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Em </a:t>
            </a:r>
            <a:r>
              <a:rPr sz="1600" b="0" dirty="0" err="1">
                <a:solidFill>
                  <a:srgbClr val="404040"/>
                </a:solidFill>
              </a:rPr>
              <a:t>vez</a:t>
            </a:r>
            <a:r>
              <a:rPr sz="1600" b="0" dirty="0">
                <a:solidFill>
                  <a:srgbClr val="404040"/>
                </a:solidFill>
              </a:rPr>
              <a:t> de </a:t>
            </a:r>
            <a:r>
              <a:rPr sz="1600" b="0" dirty="0" err="1">
                <a:solidFill>
                  <a:srgbClr val="404040"/>
                </a:solidFill>
              </a:rPr>
              <a:t>escrever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>
                <a:solidFill>
                  <a:srgbClr val="404040"/>
                </a:solidFill>
              </a:rPr>
              <a:t>#991B1B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em</a:t>
            </a:r>
            <a:r>
              <a:rPr sz="1600" b="0" dirty="0">
                <a:solidFill>
                  <a:srgbClr val="404040"/>
                </a:solidFill>
              </a:rPr>
              <a:t> quinze </a:t>
            </a:r>
            <a:r>
              <a:rPr sz="1600" b="0" dirty="0" err="1">
                <a:solidFill>
                  <a:srgbClr val="404040"/>
                </a:solidFill>
              </a:rPr>
              <a:t>arquivos</a:t>
            </a:r>
            <a:r>
              <a:rPr sz="1600" b="0" dirty="0">
                <a:solidFill>
                  <a:srgbClr val="404040"/>
                </a:solidFill>
              </a:rPr>
              <a:t>, as </a:t>
            </a:r>
            <a:r>
              <a:rPr sz="1600" b="0" dirty="0" err="1">
                <a:solidFill>
                  <a:srgbClr val="404040"/>
                </a:solidFill>
              </a:rPr>
              <a:t>telas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pedem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critico_texto</a:t>
            </a:r>
            <a:r>
              <a:rPr sz="1600" b="0" dirty="0">
                <a:solidFill>
                  <a:srgbClr val="404040"/>
                </a:solidFill>
              </a:rPr>
              <a:t> — e o valor </a:t>
            </a:r>
            <a:r>
              <a:rPr sz="1600" b="0" dirty="0" err="1">
                <a:solidFill>
                  <a:srgbClr val="404040"/>
                </a:solidFill>
              </a:rPr>
              <a:t>vive</a:t>
            </a:r>
            <a:r>
              <a:rPr sz="1600" b="0" dirty="0">
                <a:solidFill>
                  <a:srgbClr val="404040"/>
                </a:solidFill>
              </a:rPr>
              <a:t> num </a:t>
            </a:r>
            <a:r>
              <a:rPr sz="1600" b="0" dirty="0" err="1">
                <a:solidFill>
                  <a:srgbClr val="404040"/>
                </a:solidFill>
              </a:rPr>
              <a:t>lugar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só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 dirty="0">
                <a:solidFill>
                  <a:srgbClr val="404040"/>
                </a:solidFill>
              </a:rPr>
              <a:t>W3C Design Tokens, </a:t>
            </a:r>
            <a:r>
              <a:rPr sz="1600" b="1" dirty="0" err="1">
                <a:solidFill>
                  <a:srgbClr val="404040"/>
                </a:solidFill>
              </a:rPr>
              <a:t>versão</a:t>
            </a:r>
            <a:r>
              <a:rPr sz="1600" b="1" dirty="0">
                <a:solidFill>
                  <a:srgbClr val="404040"/>
                </a:solidFill>
              </a:rPr>
              <a:t> 2025.10</a:t>
            </a:r>
            <a:r>
              <a:rPr sz="1600" b="0" dirty="0">
                <a:solidFill>
                  <a:srgbClr val="404040"/>
                </a:solidFill>
              </a:rPr>
              <a:t>: </a:t>
            </a:r>
            <a:r>
              <a:rPr sz="1600" b="0" dirty="0" err="1">
                <a:solidFill>
                  <a:srgbClr val="404040"/>
                </a:solidFill>
              </a:rPr>
              <a:t>primeira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especificação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estável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>
                <a:solidFill>
                  <a:srgbClr val="404040"/>
                </a:solidFill>
              </a:rPr>
              <a:t>Figma, </a:t>
            </a:r>
            <a:r>
              <a:rPr sz="1600" b="0" dirty="0" err="1">
                <a:solidFill>
                  <a:srgbClr val="404040"/>
                </a:solidFill>
              </a:rPr>
              <a:t>Penpot</a:t>
            </a:r>
            <a:r>
              <a:rPr sz="1600" b="0" dirty="0">
                <a:solidFill>
                  <a:srgbClr val="404040"/>
                </a:solidFill>
              </a:rPr>
              <a:t>, Style Dictionary e Tokens Studio </a:t>
            </a:r>
            <a:r>
              <a:rPr sz="1600" b="0" dirty="0" err="1">
                <a:solidFill>
                  <a:srgbClr val="404040"/>
                </a:solidFill>
              </a:rPr>
              <a:t>já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usam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1" dirty="0" err="1">
                <a:solidFill>
                  <a:srgbClr val="404040"/>
                </a:solidFill>
              </a:rPr>
              <a:t>severidade.critico.texto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não</a:t>
            </a:r>
            <a:r>
              <a:rPr sz="1600" b="0" dirty="0">
                <a:solidFill>
                  <a:srgbClr val="404040"/>
                </a:solidFill>
              </a:rPr>
              <a:t> é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cor</a:t>
            </a:r>
            <a:r>
              <a:rPr sz="1600" b="0" dirty="0">
                <a:solidFill>
                  <a:srgbClr val="404040"/>
                </a:solidFill>
              </a:rPr>
              <a:t>: é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referência</a:t>
            </a:r>
            <a:r>
              <a:rPr sz="1600" b="0" dirty="0">
                <a:solidFill>
                  <a:srgbClr val="404040"/>
                </a:solidFill>
              </a:rPr>
              <a:t> a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cor.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camadas de tokens</a:t>
            </a:r>
          </a:p>
        </p:txBody>
      </p:sp>
      <p:pic>
        <p:nvPicPr>
          <p:cNvPr id="4" name="f26_camadas_tokens" descr="f26_camadas_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06644"/>
            <a:ext cx="10515600" cy="2993350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Só o arquivo de tokens usa primitivos · os componentes consomem </a:t>
            </a:r>
            <a:r>
              <a:rPr sz="1500" b="1">
                <a:solidFill>
                  <a:srgbClr val="77716B"/>
                </a:solidFill>
              </a:rPr>
              <a:t>semânticos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Nomeie pelo propósito</a:t>
            </a:r>
          </a:p>
        </p:txBody>
      </p:sp>
      <p:pic>
        <p:nvPicPr>
          <p:cNvPr id="3" name="f27_nomes" descr="f27_n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14500"/>
            <a:ext cx="5212080" cy="347472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04040"/>
                </a:solidFill>
              </a:rPr>
              <a:t>vermelho_escuro</a:t>
            </a:r>
            <a:r>
              <a:rPr sz="1600" b="0">
                <a:solidFill>
                  <a:srgbClr val="404040"/>
                </a:solidFill>
              </a:rPr>
              <a:t> descreve uma aparência; </a:t>
            </a:r>
            <a:r>
              <a:rPr sz="1600" b="1">
                <a:solidFill>
                  <a:srgbClr val="404040"/>
                </a:solidFill>
              </a:rPr>
              <a:t>critico_texto</a:t>
            </a:r>
            <a:r>
              <a:rPr sz="1600" b="0">
                <a:solidFill>
                  <a:srgbClr val="404040"/>
                </a:solidFill>
              </a:rPr>
              <a:t> descreve um papel.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Você já usou tokens sem chamar por esse nome: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config.toml</a:t>
            </a:r>
            <a:r>
              <a:rPr sz="1600" b="0">
                <a:solidFill>
                  <a:srgbClr val="404040"/>
                </a:solidFill>
              </a:rPr>
              <a:t> do Streamlit: primaryColor, redColor, baseFontSize, [theme.dark].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gr.themes</a:t>
            </a:r>
            <a:r>
              <a:rPr sz="1600" b="0">
                <a:solidFill>
                  <a:srgbClr val="404040"/>
                </a:solidFill>
              </a:rPr>
              <a:t>: mais de 300 variáveis, todas com variante _dark.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Na Aula 22, um </a:t>
            </a:r>
            <a:r>
              <a:rPr sz="1600" b="1">
                <a:solidFill>
                  <a:srgbClr val="404040"/>
                </a:solidFill>
              </a:rPr>
              <a:t>ui/tokens.py</a:t>
            </a:r>
            <a:r>
              <a:rPr sz="1600" b="0">
                <a:solidFill>
                  <a:srgbClr val="404040"/>
                </a:solidFill>
              </a:rPr>
              <a:t> gera os dois.</a:t>
            </a:r>
          </a:p>
        </p:txBody>
      </p:sp>
      <p:sp>
        <p:nvSpPr>
          <p:cNvPr id="5" name="Correlação"/>
          <p:cNvSpPr/>
          <p:nvPr/>
        </p:nvSpPr>
        <p:spPr>
          <a:xfrm>
            <a:off x="5925312" y="605332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config.toml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 símbolo, um significado</a:t>
            </a:r>
          </a:p>
        </p:txBody>
      </p:sp>
      <p:pic>
        <p:nvPicPr>
          <p:cNvPr id="4" name="f28_um_simbolo" descr="f28_um_simb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26681"/>
            <a:ext cx="10515600" cy="2953276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A severidade fica com o semáforo · o status operacional ganha linguagem </a:t>
            </a:r>
            <a:r>
              <a:rPr sz="1500" b="1">
                <a:solidFill>
                  <a:srgbClr val="77716B"/>
                </a:solidFill>
              </a:rPr>
              <a:t>neutra</a:t>
            </a:r>
            <a:r>
              <a:rPr sz="1500" b="0">
                <a:solidFill>
                  <a:srgbClr val="77716B"/>
                </a:solidFill>
              </a:rPr>
              <a:t> · a ação vira </a:t>
            </a:r>
            <a:r>
              <a:rPr sz="1500" b="1">
                <a:solidFill>
                  <a:srgbClr val="77716B"/>
                </a:solidFill>
              </a:rPr>
              <a:t>azul</a:t>
            </a:r>
          </a:p>
        </p:txBody>
      </p:sp>
      <p:sp>
        <p:nvSpPr>
          <p:cNvPr id="6" name="Correlação"/>
          <p:cNvSpPr/>
          <p:nvPr/>
        </p:nvSpPr>
        <p:spPr>
          <a:xfrm>
            <a:off x="8403336" y="384048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cor é significado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 é discreto, anormal é ruidoso</a:t>
            </a:r>
          </a:p>
        </p:txBody>
      </p:sp>
      <p:pic>
        <p:nvPicPr>
          <p:cNvPr id="3" name="f29_isa101" descr="f29_isa1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22" y="1600200"/>
            <a:ext cx="9856850" cy="420624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ANSI/ISA-101 · interfaces de supervisão de salas de controle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 nunca sozinha</a:t>
            </a:r>
          </a:p>
        </p:txBody>
      </p:sp>
      <p:pic>
        <p:nvPicPr>
          <p:cNvPr id="4" name="f30_cor_sozinha" descr="f30_cor_sozin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29" y="1600200"/>
            <a:ext cx="9465236" cy="4206240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WCAG 1.4.1 · forma </a:t>
            </a:r>
            <a:r>
              <a:rPr sz="1500" b="1">
                <a:solidFill>
                  <a:srgbClr val="77716B"/>
                </a:solidFill>
              </a:rPr>
              <a:t>●▲◆</a:t>
            </a:r>
            <a:r>
              <a:rPr sz="1500" b="0">
                <a:solidFill>
                  <a:srgbClr val="77716B"/>
                </a:solidFill>
              </a:rPr>
              <a:t> + rótulo + cor: qualquer canal sozinho já basta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Contraste</a:t>
            </a:r>
          </a:p>
        </p:txBody>
      </p:sp>
      <p:pic>
        <p:nvPicPr>
          <p:cNvPr id="3" name="f31_contraste" descr="f31_contra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0200"/>
            <a:ext cx="6309360" cy="3128764"/>
          </a:xfrm>
          <a:prstGeom prst="rect">
            <a:avLst/>
          </a:prstGeom>
        </p:spPr>
      </p:pic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7406640" y="1691640"/>
          <a:ext cx="39319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Critério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Exige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Para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1.4.3 · 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4,5:1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texto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1.4.3 · AA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3:1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texto grande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1.4.6 · AAA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7:1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texto, reforçado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1.4.11 · AA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3:1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bordas e partes de gráficos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"/>
          <p:cNvSpPr txBox="1"/>
          <p:nvPr/>
        </p:nvSpPr>
        <p:spPr>
          <a:xfrm>
            <a:off x="7406640" y="4206240"/>
            <a:ext cx="393192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04040"/>
                </a:solidFill>
              </a:rPr>
              <a:t>Ao sol, o mínimo não basta.</a:t>
            </a:r>
            <a:r>
              <a:rPr sz="1500" b="0">
                <a:solidFill>
                  <a:srgbClr val="404040"/>
                </a:solidFill>
              </a:rPr>
              <a:t> O reflexo “lava” a tela: o Forzy usa texto acima de </a:t>
            </a:r>
            <a:r>
              <a:rPr sz="1500" b="1">
                <a:solidFill>
                  <a:srgbClr val="404040"/>
                </a:solidFill>
              </a:rPr>
              <a:t>7:1</a:t>
            </a:r>
            <a:r>
              <a:rPr sz="1500" b="0">
                <a:solidFill>
                  <a:srgbClr val="404040"/>
                </a:solidFill>
              </a:rPr>
              <a:t> e bordas de campo acima de </a:t>
            </a:r>
            <a:r>
              <a:rPr sz="1500" b="1">
                <a:solidFill>
                  <a:srgbClr val="404040"/>
                </a:solidFill>
              </a:rPr>
              <a:t>3:1</a:t>
            </a:r>
            <a:r>
              <a:rPr sz="1500" b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Modo escuro não é inverter cores</a:t>
            </a:r>
          </a:p>
        </p:txBody>
      </p:sp>
      <p:pic>
        <p:nvPicPr>
          <p:cNvPr id="3" name="f32_claro_escuro" descr="f32_claro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50774"/>
            <a:ext cx="5212080" cy="5202171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24355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 err="1">
                <a:solidFill>
                  <a:srgbClr val="404040"/>
                </a:solidFill>
              </a:rPr>
              <a:t>Os</a:t>
            </a:r>
            <a:r>
              <a:rPr sz="1600" b="0" dirty="0">
                <a:solidFill>
                  <a:srgbClr val="404040"/>
                </a:solidFill>
              </a:rPr>
              <a:t> tokens </a:t>
            </a:r>
            <a:r>
              <a:rPr sz="1600" b="0" dirty="0" err="1">
                <a:solidFill>
                  <a:srgbClr val="404040"/>
                </a:solidFill>
              </a:rPr>
              <a:t>semânticos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têm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dois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valores</a:t>
            </a:r>
            <a:r>
              <a:rPr sz="1600" b="0" dirty="0">
                <a:solidFill>
                  <a:srgbClr val="404040"/>
                </a:solidFill>
              </a:rPr>
              <a:t>: o </a:t>
            </a:r>
            <a:r>
              <a:rPr sz="1600" b="0" dirty="0" err="1">
                <a:solidFill>
                  <a:srgbClr val="404040"/>
                </a:solidFill>
              </a:rPr>
              <a:t>nome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não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muda</a:t>
            </a:r>
            <a:r>
              <a:rPr sz="1600" b="0" dirty="0">
                <a:solidFill>
                  <a:srgbClr val="404040"/>
                </a:solidFill>
              </a:rPr>
              <a:t>, o valor sim.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>
                <a:solidFill>
                  <a:srgbClr val="404040"/>
                </a:solidFill>
              </a:rPr>
              <a:t>Cores </a:t>
            </a:r>
            <a:r>
              <a:rPr sz="1600" b="0" dirty="0" err="1">
                <a:solidFill>
                  <a:srgbClr val="404040"/>
                </a:solidFill>
              </a:rPr>
              <a:t>saturadas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vibram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sobre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fundo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escuro</a:t>
            </a:r>
            <a:r>
              <a:rPr sz="1600" b="0" dirty="0">
                <a:solidFill>
                  <a:srgbClr val="404040"/>
                </a:solidFill>
              </a:rPr>
              <a:t>: use tons </a:t>
            </a:r>
            <a:r>
              <a:rPr sz="1600" b="0" dirty="0" err="1">
                <a:solidFill>
                  <a:srgbClr val="404040"/>
                </a:solidFill>
              </a:rPr>
              <a:t>mais</a:t>
            </a:r>
            <a:r>
              <a:rPr sz="1600" b="0" dirty="0">
                <a:solidFill>
                  <a:srgbClr val="404040"/>
                </a:solidFill>
              </a:rPr>
              <a:t> claros.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 err="1">
                <a:solidFill>
                  <a:srgbClr val="404040"/>
                </a:solidFill>
              </a:rPr>
              <a:t>Verifique</a:t>
            </a:r>
            <a:r>
              <a:rPr sz="1600" b="0" dirty="0">
                <a:solidFill>
                  <a:srgbClr val="404040"/>
                </a:solidFill>
              </a:rPr>
              <a:t> o </a:t>
            </a:r>
            <a:r>
              <a:rPr sz="1600" b="0" dirty="0" err="1">
                <a:solidFill>
                  <a:srgbClr val="404040"/>
                </a:solidFill>
              </a:rPr>
              <a:t>contraste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nos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dois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modos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O </a:t>
            </a:r>
            <a:r>
              <a:rPr sz="1600" b="0" dirty="0" err="1">
                <a:solidFill>
                  <a:srgbClr val="404040"/>
                </a:solidFill>
              </a:rPr>
              <a:t>próprio</a:t>
            </a:r>
            <a:r>
              <a:rPr sz="1600" b="0" dirty="0">
                <a:solidFill>
                  <a:srgbClr val="404040"/>
                </a:solidFill>
              </a:rPr>
              <a:t> framework </a:t>
            </a:r>
            <a:r>
              <a:rPr sz="1600" b="0" dirty="0" err="1">
                <a:solidFill>
                  <a:srgbClr val="404040"/>
                </a:solidFill>
              </a:rPr>
              <a:t>pode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impor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cor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que</a:t>
            </a:r>
            <a:r>
              <a:rPr sz="1600" b="0" dirty="0">
                <a:solidFill>
                  <a:srgbClr val="404040"/>
                </a:solidFill>
              </a:rPr>
              <a:t> o token </a:t>
            </a:r>
            <a:r>
              <a:rPr sz="1600" b="0" dirty="0" err="1">
                <a:solidFill>
                  <a:srgbClr val="404040"/>
                </a:solidFill>
              </a:rPr>
              <a:t>não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previu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Tipografia</a:t>
            </a:r>
          </a:p>
        </p:txBody>
      </p:sp>
      <p:pic>
        <p:nvPicPr>
          <p:cNvPr id="4" name="f33_tipografia" descr="f33_tipograf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2693"/>
            <a:ext cx="10515600" cy="3061252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Base </a:t>
            </a:r>
            <a:r>
              <a:rPr sz="1500" b="1">
                <a:solidFill>
                  <a:srgbClr val="77716B"/>
                </a:solidFill>
              </a:rPr>
              <a:t>16 px</a:t>
            </a:r>
            <a:r>
              <a:rPr sz="1500" b="0">
                <a:solidFill>
                  <a:srgbClr val="77716B"/>
                </a:solidFill>
              </a:rPr>
              <a:t> · títulos </a:t>
            </a:r>
            <a:r>
              <a:rPr sz="1500" b="1">
                <a:solidFill>
                  <a:srgbClr val="77716B"/>
                </a:solidFill>
              </a:rPr>
              <a:t>20–24 px</a:t>
            </a:r>
            <a:r>
              <a:rPr sz="1500" b="0">
                <a:solidFill>
                  <a:srgbClr val="77716B"/>
                </a:solidFill>
              </a:rPr>
              <a:t> · </a:t>
            </a:r>
            <a:r>
              <a:rPr sz="1500" b="1">
                <a:solidFill>
                  <a:srgbClr val="77716B"/>
                </a:solidFill>
              </a:rPr>
              <a:t>tabular-nums</a:t>
            </a:r>
            <a:r>
              <a:rPr sz="1500" b="0">
                <a:solidFill>
                  <a:srgbClr val="77716B"/>
                </a:solidFill>
              </a:rPr>
              <a:t> · zoom liberado · </a:t>
            </a:r>
            <a:r>
              <a:rPr sz="1500" b="1">
                <a:solidFill>
                  <a:srgbClr val="77716B"/>
                </a:solidFill>
              </a:rPr>
              <a:t>system-ui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Espaço e grade</a:t>
            </a:r>
          </a:p>
        </p:txBody>
      </p:sp>
      <p:pic>
        <p:nvPicPr>
          <p:cNvPr id="3" name="f34_espaco" descr="f34_esp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54301"/>
            <a:ext cx="10515600" cy="34009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Forma, iconografia e movimento</a:t>
            </a:r>
          </a:p>
        </p:txBody>
      </p:sp>
      <p:pic>
        <p:nvPicPr>
          <p:cNvPr id="4" name="f35_forma" descr="f35_fo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52551"/>
            <a:ext cx="10515600" cy="30044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5</a:t>
            </a:r>
            <a:r>
              <a:rPr dirty="0"/>
              <a:t> · </a:t>
            </a:r>
            <a:r>
              <a:rPr dirty="0" err="1"/>
              <a:t>Interação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toque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Alvos de toque</a:t>
            </a:r>
          </a:p>
        </p:txBody>
      </p:sp>
      <p:pic>
        <p:nvPicPr>
          <p:cNvPr id="4" name="f37_alvos" descr="f37_alv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2230911"/>
            <a:ext cx="10515600" cy="34477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A lei de Fitts</a:t>
            </a:r>
          </a:p>
        </p:txBody>
      </p:sp>
      <p:pic>
        <p:nvPicPr>
          <p:cNvPr id="3" name="f38_fitts" descr="f38_fit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61140"/>
            <a:ext cx="5212080" cy="558144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Paul Fitts (1954): o tempo para atingir um alvo </a:t>
            </a:r>
            <a:r>
              <a:rPr sz="1600" b="1">
                <a:solidFill>
                  <a:srgbClr val="404040"/>
                </a:solidFill>
              </a:rPr>
              <a:t>cresce com a distância</a:t>
            </a:r>
            <a:r>
              <a:rPr sz="1600" b="0">
                <a:solidFill>
                  <a:srgbClr val="404040"/>
                </a:solidFill>
              </a:rPr>
              <a:t> e </a:t>
            </a:r>
            <a:r>
              <a:rPr sz="1600" b="1">
                <a:solidFill>
                  <a:srgbClr val="404040"/>
                </a:solidFill>
              </a:rPr>
              <a:t>cai com o tamanho</a:t>
            </a:r>
            <a:r>
              <a:rPr sz="1600" b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Alvos frequentes: </a:t>
            </a:r>
            <a:r>
              <a:rPr sz="1600" b="1">
                <a:solidFill>
                  <a:srgbClr val="404040"/>
                </a:solidFill>
              </a:rPr>
              <a:t>grandes e próximos</a:t>
            </a:r>
            <a:r>
              <a:rPr sz="1600" b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Ações relacionadas </a:t>
            </a:r>
            <a:r>
              <a:rPr sz="1600" b="1">
                <a:solidFill>
                  <a:srgbClr val="404040"/>
                </a:solidFill>
              </a:rPr>
              <a:t>juntas</a:t>
            </a:r>
            <a:r>
              <a:rPr sz="1600" b="0">
                <a:solidFill>
                  <a:srgbClr val="404040"/>
                </a:solidFill>
              </a:rPr>
              <a:t>: Painel e Ficha dentro do card.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A </a:t>
            </a:r>
            <a:r>
              <a:rPr sz="1600" b="1">
                <a:solidFill>
                  <a:srgbClr val="404040"/>
                </a:solidFill>
              </a:rPr>
              <a:t>borda da tela</a:t>
            </a:r>
            <a:r>
              <a:rPr sz="1600" b="0">
                <a:solidFill>
                  <a:srgbClr val="404040"/>
                </a:solidFill>
              </a:rPr>
              <a:t> é um alvo “infinito” numa direção — por isso a navegação cola na base.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zona do polegar</a:t>
            </a:r>
          </a:p>
        </p:txBody>
      </p:sp>
      <p:pic>
        <p:nvPicPr>
          <p:cNvPr id="3" name="f39_polegar" descr="f39_poleg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41" y="1554480"/>
            <a:ext cx="5034892" cy="484632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6858000" y="1737360"/>
            <a:ext cx="146304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C46E31"/>
                </a:solidFill>
              </a:rPr>
              <a:t>49%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6858000" y="2606039"/>
            <a:ext cx="14630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7716B"/>
                </a:solidFill>
              </a:rPr>
              <a:t>uma mão só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8366760" y="1737360"/>
            <a:ext cx="146304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C46E31"/>
                </a:solidFill>
              </a:rPr>
              <a:t>36%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8366760" y="2606039"/>
            <a:ext cx="14630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7716B"/>
                </a:solidFill>
              </a:rPr>
              <a:t>segura numa, toca com a outra</a:t>
            </a:r>
          </a:p>
        </p:txBody>
      </p:sp>
      <p:sp>
        <p:nvSpPr>
          <p:cNvPr id="8" name="Texto"/>
          <p:cNvSpPr txBox="1"/>
          <p:nvPr/>
        </p:nvSpPr>
        <p:spPr>
          <a:xfrm>
            <a:off x="9875520" y="1737360"/>
            <a:ext cx="146304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C46E31"/>
                </a:solidFill>
              </a:rPr>
              <a:t>15%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9875520" y="2606039"/>
            <a:ext cx="14630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7716B"/>
                </a:solidFill>
              </a:rPr>
              <a:t>duas mãos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6858000" y="3657600"/>
            <a:ext cx="448056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</a:rPr>
              <a:t>Steven Hoober observou </a:t>
            </a:r>
            <a:r>
              <a:rPr sz="1500" b="1">
                <a:solidFill>
                  <a:srgbClr val="404040"/>
                </a:solidFill>
              </a:rPr>
              <a:t>1.333 pessoas</a:t>
            </a:r>
            <a:r>
              <a:rPr sz="1500" b="0">
                <a:solidFill>
                  <a:srgbClr val="404040"/>
                </a:solidFill>
              </a:rPr>
              <a:t> usando o celular na rua — e elas </a:t>
            </a:r>
            <a:r>
              <a:rPr sz="1500" b="1">
                <a:solidFill>
                  <a:srgbClr val="404040"/>
                </a:solidFill>
              </a:rPr>
              <a:t>mudam de pegada</a:t>
            </a:r>
            <a:r>
              <a:rPr sz="1500" b="0">
                <a:solidFill>
                  <a:srgbClr val="404040"/>
                </a:solidFill>
              </a:rPr>
              <a:t> a cada poucos segundos.</a:t>
            </a:r>
          </a:p>
          <a:p>
            <a:pPr algn="l">
              <a:spcAft>
                <a:spcPts val="800"/>
              </a:spcAft>
            </a:pPr>
            <a:endParaRPr sz="15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</a:rPr>
              <a:t>O Forzy original pôs a navegação no </a:t>
            </a:r>
            <a:r>
              <a:rPr sz="1500" b="1">
                <a:solidFill>
                  <a:srgbClr val="404040"/>
                </a:solidFill>
              </a:rPr>
              <a:t>pior lugar possível</a:t>
            </a:r>
            <a:r>
              <a:rPr sz="1500" b="0">
                <a:solidFill>
                  <a:srgbClr val="404040"/>
                </a:solidFill>
              </a:rPr>
              <a:t>: o canto superior esquerdo.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Não existe hover</a:t>
            </a:r>
          </a:p>
        </p:txBody>
      </p:sp>
      <p:pic>
        <p:nvPicPr>
          <p:cNvPr id="4" name="f40_hover" descr="f40_h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09548"/>
            <a:ext cx="10515600" cy="309046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Gestos e a armadilha de rolagem</a:t>
            </a:r>
          </a:p>
        </p:txBody>
      </p:sp>
      <p:pic>
        <p:nvPicPr>
          <p:cNvPr id="3" name="f41_rolagem" descr="f41_rol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0222"/>
            <a:ext cx="5212080" cy="4823275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Gestos economizam espaço, mas têm dois custos: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Descoberta</a:t>
            </a:r>
            <a:r>
              <a:rPr sz="1600" b="0">
                <a:solidFill>
                  <a:srgbClr val="404040"/>
                </a:solidFill>
              </a:rPr>
              <a:t>: não têm desenho na tela.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Conflito</a:t>
            </a:r>
            <a:r>
              <a:rPr sz="1600" b="0">
                <a:solidFill>
                  <a:srgbClr val="404040"/>
                </a:solidFill>
              </a:rPr>
              <a:t>: o sistema já usa voltar e rolar.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Gráfico interativo captura o toque; a página fica presa. Solução: </a:t>
            </a:r>
            <a:r>
              <a:rPr sz="1600" b="1">
                <a:solidFill>
                  <a:srgbClr val="404040"/>
                </a:solidFill>
              </a:rPr>
              <a:t>eixos travados, sem arrastar</a:t>
            </a:r>
            <a:r>
              <a:rPr sz="1600" b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WCAG </a:t>
            </a:r>
            <a:r>
              <a:rPr sz="1600" b="1">
                <a:solidFill>
                  <a:srgbClr val="404040"/>
                </a:solidFill>
              </a:rPr>
              <a:t>2.5.1</a:t>
            </a:r>
            <a:r>
              <a:rPr sz="1600" b="0">
                <a:solidFill>
                  <a:srgbClr val="404040"/>
                </a:solidFill>
              </a:rPr>
              <a:t> e </a:t>
            </a:r>
            <a:r>
              <a:rPr sz="1600" b="1">
                <a:solidFill>
                  <a:srgbClr val="404040"/>
                </a:solidFill>
              </a:rPr>
              <a:t>2.5.7</a:t>
            </a:r>
            <a:r>
              <a:rPr sz="1600" b="0">
                <a:solidFill>
                  <a:srgbClr val="404040"/>
                </a:solidFill>
              </a:rPr>
              <a:t>: alternativa a gestos complexos e a arrastar.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O teclado virtual</a:t>
            </a:r>
          </a:p>
        </p:txBody>
      </p:sp>
      <p:pic>
        <p:nvPicPr>
          <p:cNvPr id="3" name="f42_teclado" descr="f42_tecl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0157"/>
            <a:ext cx="5212079" cy="5123405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21893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Com o </a:t>
            </a:r>
            <a:r>
              <a:rPr sz="1600" b="0" dirty="0" err="1">
                <a:solidFill>
                  <a:srgbClr val="404040"/>
                </a:solidFill>
              </a:rPr>
              <a:t>foco</a:t>
            </a:r>
            <a:r>
              <a:rPr sz="1600" b="0" dirty="0">
                <a:solidFill>
                  <a:srgbClr val="404040"/>
                </a:solidFill>
              </a:rPr>
              <a:t> num campo, o </a:t>
            </a:r>
            <a:r>
              <a:rPr sz="1600" b="0" dirty="0" err="1">
                <a:solidFill>
                  <a:srgbClr val="404040"/>
                </a:solidFill>
              </a:rPr>
              <a:t>teclado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ocupa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>
                <a:solidFill>
                  <a:srgbClr val="404040"/>
                </a:solidFill>
              </a:rPr>
              <a:t>40–50%</a:t>
            </a:r>
            <a:r>
              <a:rPr sz="1600" b="0" dirty="0">
                <a:solidFill>
                  <a:srgbClr val="404040"/>
                </a:solidFill>
              </a:rPr>
              <a:t> da </a:t>
            </a:r>
            <a:r>
              <a:rPr sz="1600" b="0" dirty="0" err="1">
                <a:solidFill>
                  <a:srgbClr val="404040"/>
                </a:solidFill>
              </a:rPr>
              <a:t>tela</a:t>
            </a:r>
            <a:r>
              <a:rPr sz="1600" b="0" dirty="0">
                <a:solidFill>
                  <a:srgbClr val="404040"/>
                </a:solidFill>
              </a:rPr>
              <a:t>. </a:t>
            </a:r>
            <a:r>
              <a:rPr sz="1600" b="0" dirty="0" err="1">
                <a:solidFill>
                  <a:srgbClr val="404040"/>
                </a:solidFill>
              </a:rPr>
              <a:t>Digitar</a:t>
            </a:r>
            <a:r>
              <a:rPr sz="1600" b="0" dirty="0">
                <a:solidFill>
                  <a:srgbClr val="404040"/>
                </a:solidFill>
              </a:rPr>
              <a:t> é a </a:t>
            </a:r>
            <a:r>
              <a:rPr sz="1600" b="0" dirty="0" err="1">
                <a:solidFill>
                  <a:srgbClr val="404040"/>
                </a:solidFill>
              </a:rPr>
              <a:t>tarefa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mais</a:t>
            </a:r>
            <a:r>
              <a:rPr sz="1600" b="0" dirty="0">
                <a:solidFill>
                  <a:srgbClr val="404040"/>
                </a:solidFill>
              </a:rPr>
              <a:t> car</a:t>
            </a:r>
            <a:r>
              <a:rPr lang="pt-BR" sz="1600" b="0" dirty="0">
                <a:solidFill>
                  <a:srgbClr val="404040"/>
                </a:solidFill>
              </a:rPr>
              <a:t>a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 dirty="0">
                <a:solidFill>
                  <a:srgbClr val="404040"/>
                </a:solidFill>
              </a:rPr>
              <a:t>O </a:t>
            </a:r>
            <a:r>
              <a:rPr sz="1600" b="1" dirty="0" err="1">
                <a:solidFill>
                  <a:srgbClr val="404040"/>
                </a:solidFill>
              </a:rPr>
              <a:t>teclado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certo</a:t>
            </a:r>
            <a:r>
              <a:rPr sz="1600" b="0" dirty="0">
                <a:solidFill>
                  <a:srgbClr val="404040"/>
                </a:solidFill>
              </a:rPr>
              <a:t>: type="search" </a:t>
            </a:r>
            <a:r>
              <a:rPr sz="1600" b="0" dirty="0" err="1">
                <a:solidFill>
                  <a:srgbClr val="404040"/>
                </a:solidFill>
              </a:rPr>
              <a:t>mostra</a:t>
            </a:r>
            <a:r>
              <a:rPr sz="1600" b="0" dirty="0">
                <a:solidFill>
                  <a:srgbClr val="404040"/>
                </a:solidFill>
              </a:rPr>
              <a:t> “</a:t>
            </a:r>
            <a:r>
              <a:rPr sz="1600" b="0" dirty="0" err="1">
                <a:solidFill>
                  <a:srgbClr val="404040"/>
                </a:solidFill>
              </a:rPr>
              <a:t>Buscar</a:t>
            </a:r>
            <a:r>
              <a:rPr sz="1600" b="0" dirty="0">
                <a:solidFill>
                  <a:srgbClr val="404040"/>
                </a:solidFill>
              </a:rPr>
              <a:t>”.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 dirty="0">
                <a:solidFill>
                  <a:srgbClr val="404040"/>
                </a:solidFill>
              </a:rPr>
              <a:t>Menos </a:t>
            </a:r>
            <a:r>
              <a:rPr sz="1600" b="1" dirty="0" err="1">
                <a:solidFill>
                  <a:srgbClr val="404040"/>
                </a:solidFill>
              </a:rPr>
              <a:t>digitação</a:t>
            </a:r>
            <a:r>
              <a:rPr sz="1600" b="0" dirty="0">
                <a:solidFill>
                  <a:srgbClr val="404040"/>
                </a:solidFill>
              </a:rPr>
              <a:t>: o </a:t>
            </a:r>
            <a:r>
              <a:rPr sz="1600" b="0" dirty="0" err="1">
                <a:solidFill>
                  <a:srgbClr val="404040"/>
                </a:solidFill>
              </a:rPr>
              <a:t>comum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vira</a:t>
            </a:r>
            <a:r>
              <a:rPr sz="1600" b="0" dirty="0">
                <a:solidFill>
                  <a:srgbClr val="404040"/>
                </a:solidFill>
              </a:rPr>
              <a:t> um toque.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 dirty="0" err="1">
                <a:solidFill>
                  <a:srgbClr val="404040"/>
                </a:solidFill>
              </a:rPr>
              <a:t>Validação</a:t>
            </a:r>
            <a:r>
              <a:rPr sz="1600" b="1" dirty="0">
                <a:solidFill>
                  <a:srgbClr val="404040"/>
                </a:solidFill>
              </a:rPr>
              <a:t> no campo</a:t>
            </a:r>
            <a:r>
              <a:rPr sz="1600" b="0" dirty="0">
                <a:solidFill>
                  <a:srgbClr val="404040"/>
                </a:solidFill>
              </a:rPr>
              <a:t>, antes de </a:t>
            </a:r>
            <a:r>
              <a:rPr sz="1600" b="0" dirty="0" err="1">
                <a:solidFill>
                  <a:srgbClr val="404040"/>
                </a:solidFill>
              </a:rPr>
              <a:t>gastar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ida</a:t>
            </a:r>
            <a:r>
              <a:rPr sz="1600" b="0" dirty="0">
                <a:solidFill>
                  <a:srgbClr val="404040"/>
                </a:solidFill>
              </a:rPr>
              <a:t> à API </a:t>
            </a:r>
            <a:r>
              <a:rPr sz="1600" b="0" dirty="0" err="1">
                <a:solidFill>
                  <a:srgbClr val="404040"/>
                </a:solidFill>
              </a:rPr>
              <a:t>que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hiberna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6</a:t>
            </a:r>
            <a:r>
              <a:rPr dirty="0"/>
              <a:t> · </a:t>
            </a:r>
            <a:r>
              <a:rPr dirty="0" err="1"/>
              <a:t>Navegação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Padrões de navegação</a:t>
            </a:r>
          </a:p>
        </p:txBody>
      </p:sp>
      <p:pic>
        <p:nvPicPr>
          <p:cNvPr id="4" name="f44_nav" descr="f44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1683913"/>
            <a:ext cx="10515600" cy="40388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A sidebar não sobrevive ao celular</a:t>
            </a:r>
          </a:p>
        </p:txBody>
      </p:sp>
      <p:pic>
        <p:nvPicPr>
          <p:cNvPr id="3" name="f45_sidebar_base" descr="f45_sidebar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23693"/>
            <a:ext cx="5212080" cy="5256333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2681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Na Aula 2: </a:t>
            </a:r>
            <a:r>
              <a:rPr sz="1600" b="1" dirty="0">
                <a:solidFill>
                  <a:srgbClr val="404040"/>
                </a:solidFill>
              </a:rPr>
              <a:t>“se </a:t>
            </a:r>
            <a:r>
              <a:rPr sz="1600" b="1" dirty="0" err="1">
                <a:solidFill>
                  <a:srgbClr val="404040"/>
                </a:solidFill>
              </a:rPr>
              <a:t>muda</a:t>
            </a:r>
            <a:r>
              <a:rPr sz="1600" b="1" dirty="0">
                <a:solidFill>
                  <a:srgbClr val="404040"/>
                </a:solidFill>
              </a:rPr>
              <a:t> o </a:t>
            </a:r>
            <a:r>
              <a:rPr sz="1600" b="1" dirty="0" err="1">
                <a:solidFill>
                  <a:srgbClr val="404040"/>
                </a:solidFill>
              </a:rPr>
              <a:t>modelo</a:t>
            </a:r>
            <a:r>
              <a:rPr sz="1600" b="1" dirty="0">
                <a:solidFill>
                  <a:srgbClr val="404040"/>
                </a:solidFill>
              </a:rPr>
              <a:t> → sidebar; se </a:t>
            </a:r>
            <a:r>
              <a:rPr sz="1600" b="1" dirty="0" err="1">
                <a:solidFill>
                  <a:srgbClr val="404040"/>
                </a:solidFill>
              </a:rPr>
              <a:t>muda</a:t>
            </a:r>
            <a:r>
              <a:rPr sz="1600" b="1" dirty="0">
                <a:solidFill>
                  <a:srgbClr val="404040"/>
                </a:solidFill>
              </a:rPr>
              <a:t> o </a:t>
            </a:r>
            <a:r>
              <a:rPr sz="1600" b="1" dirty="0" err="1">
                <a:solidFill>
                  <a:srgbClr val="404040"/>
                </a:solidFill>
              </a:rPr>
              <a:t>resultado</a:t>
            </a:r>
            <a:r>
              <a:rPr sz="1600" b="1" dirty="0">
                <a:solidFill>
                  <a:srgbClr val="404040"/>
                </a:solidFill>
              </a:rPr>
              <a:t> → </a:t>
            </a:r>
            <a:r>
              <a:rPr sz="1600" b="1" dirty="0" err="1">
                <a:solidFill>
                  <a:srgbClr val="404040"/>
                </a:solidFill>
              </a:rPr>
              <a:t>área</a:t>
            </a:r>
            <a:r>
              <a:rPr sz="1600" b="1" dirty="0">
                <a:solidFill>
                  <a:srgbClr val="404040"/>
                </a:solidFill>
              </a:rPr>
              <a:t> principal”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Essa </a:t>
            </a:r>
            <a:r>
              <a:rPr sz="1600" b="0" dirty="0" err="1">
                <a:solidFill>
                  <a:srgbClr val="404040"/>
                </a:solidFill>
              </a:rPr>
              <a:t>regra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foi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pensada</a:t>
            </a:r>
            <a:r>
              <a:rPr sz="1600" b="0" dirty="0">
                <a:solidFill>
                  <a:srgbClr val="404040"/>
                </a:solidFill>
              </a:rPr>
              <a:t> para o desktop, </a:t>
            </a:r>
            <a:r>
              <a:rPr sz="1600" b="0" dirty="0" err="1">
                <a:solidFill>
                  <a:srgbClr val="404040"/>
                </a:solidFill>
              </a:rPr>
              <a:t>onde</a:t>
            </a:r>
            <a:r>
              <a:rPr sz="1600" b="0" dirty="0">
                <a:solidFill>
                  <a:srgbClr val="404040"/>
                </a:solidFill>
              </a:rPr>
              <a:t> a sidebar </a:t>
            </a:r>
            <a:r>
              <a:rPr sz="1600" b="0" dirty="0" err="1">
                <a:solidFill>
                  <a:srgbClr val="404040"/>
                </a:solidFill>
              </a:rPr>
              <a:t>fica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>
                <a:solidFill>
                  <a:srgbClr val="404040"/>
                </a:solidFill>
              </a:rPr>
              <a:t>sempre </a:t>
            </a:r>
            <a:r>
              <a:rPr sz="1600" b="1" dirty="0" err="1">
                <a:solidFill>
                  <a:srgbClr val="404040"/>
                </a:solidFill>
              </a:rPr>
              <a:t>visível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No </a:t>
            </a:r>
            <a:r>
              <a:rPr sz="1600" b="0" dirty="0" err="1">
                <a:solidFill>
                  <a:srgbClr val="404040"/>
                </a:solidFill>
              </a:rPr>
              <a:t>celular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ela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vira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gaveta</a:t>
            </a:r>
            <a:r>
              <a:rPr lang="pt-BR" sz="1600" b="0" dirty="0">
                <a:solidFill>
                  <a:srgbClr val="404040"/>
                </a:solidFill>
              </a:rPr>
              <a:t> ou hamburger</a:t>
            </a:r>
            <a:r>
              <a:rPr sz="1600" b="0" dirty="0">
                <a:solidFill>
                  <a:srgbClr val="404040"/>
                </a:solidFill>
              </a:rPr>
              <a:t>. </a:t>
            </a:r>
            <a:r>
              <a:rPr sz="1600" b="0" dirty="0" err="1">
                <a:solidFill>
                  <a:srgbClr val="404040"/>
                </a:solidFill>
              </a:rPr>
              <a:t>Configurações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vão</a:t>
            </a:r>
            <a:r>
              <a:rPr sz="1600" b="0" dirty="0">
                <a:solidFill>
                  <a:srgbClr val="404040"/>
                </a:solidFill>
              </a:rPr>
              <a:t> para </a:t>
            </a:r>
            <a:r>
              <a:rPr sz="1600" b="1" dirty="0" err="1">
                <a:solidFill>
                  <a:srgbClr val="404040"/>
                </a:solidFill>
              </a:rPr>
              <a:t>seções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recolhíveis</a:t>
            </a:r>
            <a:r>
              <a:rPr sz="1600" b="0" dirty="0">
                <a:solidFill>
                  <a:srgbClr val="404040"/>
                </a:solidFill>
              </a:rPr>
              <a:t> no </a:t>
            </a:r>
            <a:r>
              <a:rPr sz="1600" b="0" dirty="0" err="1">
                <a:solidFill>
                  <a:srgbClr val="404040"/>
                </a:solidFill>
              </a:rPr>
              <a:t>conteúdo</a:t>
            </a:r>
            <a:r>
              <a:rPr sz="1600" b="0" dirty="0">
                <a:solidFill>
                  <a:srgbClr val="404040"/>
                </a:solidFill>
              </a:rPr>
              <a:t>; a </a:t>
            </a:r>
            <a:r>
              <a:rPr sz="1600" b="0" dirty="0" err="1">
                <a:solidFill>
                  <a:srgbClr val="404040"/>
                </a:solidFill>
              </a:rPr>
              <a:t>navegação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vai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>
                <a:solidFill>
                  <a:srgbClr val="404040"/>
                </a:solidFill>
              </a:rPr>
              <a:t>para a base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5" name="Correlação"/>
          <p:cNvSpPr/>
          <p:nvPr/>
        </p:nvSpPr>
        <p:spPr>
          <a:xfrm>
            <a:off x="5925312" y="6053328"/>
            <a:ext cx="3625596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sidebar × área principal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Profundidade rasa</a:t>
            </a:r>
          </a:p>
        </p:txBody>
      </p:sp>
      <p:pic>
        <p:nvPicPr>
          <p:cNvPr id="3" name="f46_profundidade" descr="f46_profund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98900"/>
            <a:ext cx="10515600" cy="311175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A URL como estado: deep links</a:t>
            </a:r>
          </a:p>
        </p:txBody>
      </p:sp>
      <p:pic>
        <p:nvPicPr>
          <p:cNvPr id="3" name="f47_qr" descr="f47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56299"/>
            <a:ext cx="5212080" cy="539112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Um </a:t>
            </a:r>
            <a:r>
              <a:rPr sz="1600" b="1">
                <a:solidFill>
                  <a:srgbClr val="404040"/>
                </a:solidFill>
              </a:rPr>
              <a:t>QR code</a:t>
            </a:r>
            <a:r>
              <a:rPr sz="1600" b="0">
                <a:solidFill>
                  <a:srgbClr val="404040"/>
                </a:solidFill>
              </a:rPr>
              <a:t> colado no motor leva o técnico direto ao painel dele.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Compartilhar</a:t>
            </a:r>
            <a:r>
              <a:rPr sz="1600" b="0">
                <a:solidFill>
                  <a:srgbClr val="404040"/>
                </a:solidFill>
              </a:rPr>
              <a:t>: “olha o 12”, com o link.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Recarregar</a:t>
            </a:r>
            <a:r>
              <a:rPr sz="1600" b="0">
                <a:solidFill>
                  <a:srgbClr val="404040"/>
                </a:solidFill>
              </a:rPr>
              <a:t>: o celular descarta abas em segundo plano.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04040"/>
                </a:solidFill>
              </a:rPr>
              <a:t>Segurança</a:t>
            </a:r>
            <a:r>
              <a:rPr sz="1600" b="0">
                <a:solidFill>
                  <a:srgbClr val="404040"/>
                </a:solidFill>
              </a:rPr>
              <a:t>: parâmetro de URL é </a:t>
            </a:r>
            <a:r>
              <a:rPr sz="1600" b="1">
                <a:solidFill>
                  <a:srgbClr val="404040"/>
                </a:solidFill>
              </a:rPr>
              <a:t>entrada do usuário</a:t>
            </a:r>
            <a:r>
              <a:rPr sz="1600" b="0">
                <a:solidFill>
                  <a:srgbClr val="404040"/>
                </a:solidFill>
              </a:rPr>
              <a:t>. Valide página e TAG; descarte o resto.</a:t>
            </a:r>
          </a:p>
        </p:txBody>
      </p:sp>
      <p:sp>
        <p:nvSpPr>
          <p:cNvPr id="5" name="Correlação"/>
          <p:cNvSpPr/>
          <p:nvPr/>
        </p:nvSpPr>
        <p:spPr>
          <a:xfrm>
            <a:off x="5925312" y="6053328"/>
            <a:ext cx="3337560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17 · validação de entrada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Revelação progressiva</a:t>
            </a:r>
          </a:p>
        </p:txBody>
      </p:sp>
      <p:pic>
        <p:nvPicPr>
          <p:cNvPr id="4" name="f48_revelacao" descr="f48_rev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456" y="1600200"/>
            <a:ext cx="8297182" cy="4206240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841248" y="60350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77716B"/>
                </a:solidFill>
              </a:rPr>
              <a:t>Mostre primeiro o essencial · deixe o resto </a:t>
            </a:r>
            <a:r>
              <a:rPr sz="1500" b="1">
                <a:solidFill>
                  <a:srgbClr val="77716B"/>
                </a:solidFill>
              </a:rPr>
              <a:t>a um toque de distância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7</a:t>
            </a:r>
            <a:r>
              <a:rPr dirty="0"/>
              <a:t> · </a:t>
            </a:r>
            <a:r>
              <a:rPr dirty="0" err="1"/>
              <a:t>Conteúdo</a:t>
            </a:r>
            <a:r>
              <a:rPr dirty="0"/>
              <a:t> e dados no </a:t>
            </a:r>
            <a:r>
              <a:rPr dirty="0" err="1"/>
              <a:t>celular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vira card</a:t>
            </a:r>
          </a:p>
        </p:txBody>
      </p:sp>
      <p:pic>
        <p:nvPicPr>
          <p:cNvPr id="4" name="f50_tabela_card" descr="f50_tabela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67" y="1600200"/>
            <a:ext cx="10005761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status primeiro</a:t>
            </a:r>
          </a:p>
        </p:txBody>
      </p:sp>
      <p:pic>
        <p:nvPicPr>
          <p:cNvPr id="3" name="f51_status_primeiro" descr="f51_status_primei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49" y="1600200"/>
            <a:ext cx="10285796" cy="4709160"/>
          </a:xfrm>
          <a:prstGeom prst="rect">
            <a:avLst/>
          </a:prstGeom>
        </p:spPr>
      </p:pic>
      <p:sp>
        <p:nvSpPr>
          <p:cNvPr id="4" name="Correlação"/>
          <p:cNvSpPr/>
          <p:nvPr/>
        </p:nvSpPr>
        <p:spPr>
          <a:xfrm>
            <a:off x="8787384" y="384048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transparência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teste dos dois segundos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1362456" y="3657600"/>
            <a:ext cx="493776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Mostre a tela por </a:t>
            </a:r>
            <a:r>
              <a:rPr sz="1600" b="1">
                <a:solidFill>
                  <a:srgbClr val="404040"/>
                </a:solidFill>
              </a:rPr>
              <a:t>dois segundos</a:t>
            </a:r>
            <a:r>
              <a:rPr sz="1600" b="0">
                <a:solidFill>
                  <a:srgbClr val="404040"/>
                </a:solidFill>
              </a:rPr>
              <a:t> e pergunte: </a:t>
            </a:r>
            <a:r>
              <a:rPr sz="1600" b="1">
                <a:solidFill>
                  <a:srgbClr val="404040"/>
                </a:solidFill>
              </a:rPr>
              <a:t>“o motor está bem?”</a:t>
            </a:r>
          </a:p>
          <a:p>
            <a:pPr algn="l">
              <a:spcAft>
                <a:spcPts val="800"/>
              </a:spcAft>
            </a:pPr>
            <a:endParaRPr sz="1600" b="1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Se a pessoa precisar ler uma tabela para responder, a tela falhou. É a </a:t>
            </a:r>
            <a:r>
              <a:rPr sz="1600" b="1">
                <a:solidFill>
                  <a:srgbClr val="404040"/>
                </a:solidFill>
              </a:rPr>
              <a:t>glanceability</a:t>
            </a:r>
            <a:r>
              <a:rPr sz="1600" b="0">
                <a:solidFill>
                  <a:srgbClr val="404040"/>
                </a:solidFill>
              </a:rPr>
              <a:t>.</a:t>
            </a:r>
          </a:p>
        </p:txBody>
      </p:sp>
      <p:pic>
        <p:nvPicPr>
          <p:cNvPr id="4" name="f52_dois_segundos" descr="f52_dois_segun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47979"/>
            <a:ext cx="5120640" cy="545348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Tendência e gráficos no celular</a:t>
            </a:r>
          </a:p>
        </p:txBody>
      </p:sp>
      <p:pic>
        <p:nvPicPr>
          <p:cNvPr id="3" name="f53_graficos" descr="f53_graf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7" y="502920"/>
            <a:ext cx="5077645" cy="589788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04040"/>
                </a:solidFill>
              </a:rPr>
              <a:t>Sparklines</a:t>
            </a:r>
            <a:r>
              <a:rPr sz="1600" b="0">
                <a:solidFill>
                  <a:srgbClr val="404040"/>
                </a:solidFill>
              </a:rPr>
              <a:t> (Tufte): tendência sem 500 px de gráfico. No Streamlit: st.metric(chart_data=…).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1">
                <a:solidFill>
                  <a:srgbClr val="404040"/>
                </a:solidFill>
              </a:rPr>
              <a:t>Um</a:t>
            </a:r>
            <a:r>
              <a:rPr sz="1600" b="0">
                <a:solidFill>
                  <a:srgbClr val="404040"/>
                </a:solidFill>
              </a:rPr>
              <a:t> gráfico por vez, escolhido por toque.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Altura contida (~250 px), sem barra de ferramentas.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Eixos travados: o dedo rola a página.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Tempo curto: “22:12”.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Limites nas cores do selo; a mais grave abre selecionada.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também é design system</a:t>
            </a:r>
          </a:p>
        </p:txBody>
      </p:sp>
      <p:pic>
        <p:nvPicPr>
          <p:cNvPr id="4" name="f54_conteudo" descr="f54_conte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66666"/>
            <a:ext cx="10515600" cy="257622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</a:t>
            </a:r>
            <a:r>
              <a:rPr lang="pt-BR" dirty="0"/>
              <a:t>8</a:t>
            </a:r>
            <a:r>
              <a:rPr dirty="0"/>
              <a:t> · </a:t>
            </a:r>
            <a:r>
              <a:rPr dirty="0" err="1"/>
              <a:t>Estados</a:t>
            </a:r>
            <a:r>
              <a:rPr dirty="0"/>
              <a:t> e </a:t>
            </a:r>
            <a:r>
              <a:rPr dirty="0" err="1"/>
              <a:t>desempenho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Seis estados de toda tela de dados</a:t>
            </a:r>
          </a:p>
        </p:txBody>
      </p:sp>
      <p:pic>
        <p:nvPicPr>
          <p:cNvPr id="4" name="f56_estados" descr="f56_es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13659"/>
            <a:ext cx="10515600" cy="3882240"/>
          </a:xfrm>
          <a:prstGeom prst="rect">
            <a:avLst/>
          </a:prstGeom>
        </p:spPr>
      </p:pic>
      <p:sp>
        <p:nvSpPr>
          <p:cNvPr id="5" name="Correlação"/>
          <p:cNvSpPr/>
          <p:nvPr/>
        </p:nvSpPr>
        <p:spPr>
          <a:xfrm>
            <a:off x="8211312" y="384048"/>
            <a:ext cx="3145536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latência e feedback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Desempenho percebido: Core Web Vitals</a:t>
            </a:r>
          </a:p>
        </p:txBody>
      </p:sp>
      <p:sp>
        <p:nvSpPr>
          <p:cNvPr id="3" name="Cartão"/>
          <p:cNvSpPr/>
          <p:nvPr/>
        </p:nvSpPr>
        <p:spPr>
          <a:xfrm>
            <a:off x="841248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o"/>
          <p:cNvSpPr txBox="1"/>
          <p:nvPr/>
        </p:nvSpPr>
        <p:spPr>
          <a:xfrm>
            <a:off x="1005840" y="178308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46E31"/>
                </a:solidFill>
              </a:rPr>
              <a:t>≤ 2,5 s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1005840" y="2651760"/>
            <a:ext cx="30175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LCP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04040"/>
                </a:solidFill>
              </a:rPr>
              <a:t>quando o maior elemento visível aparece</a:t>
            </a:r>
          </a:p>
        </p:txBody>
      </p:sp>
      <p:sp>
        <p:nvSpPr>
          <p:cNvPr id="6" name="Cartão"/>
          <p:cNvSpPr/>
          <p:nvPr/>
        </p:nvSpPr>
        <p:spPr>
          <a:xfrm>
            <a:off x="4407408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o"/>
          <p:cNvSpPr txBox="1"/>
          <p:nvPr/>
        </p:nvSpPr>
        <p:spPr>
          <a:xfrm>
            <a:off x="4572000" y="178308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46E31"/>
                </a:solidFill>
              </a:rPr>
              <a:t>≤ 200 ms</a:t>
            </a:r>
          </a:p>
        </p:txBody>
      </p:sp>
      <p:sp>
        <p:nvSpPr>
          <p:cNvPr id="8" name="Texto"/>
          <p:cNvSpPr txBox="1"/>
          <p:nvPr/>
        </p:nvSpPr>
        <p:spPr>
          <a:xfrm>
            <a:off x="4572000" y="2651760"/>
            <a:ext cx="30175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INP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04040"/>
                </a:solidFill>
              </a:rPr>
              <a:t>quanto a página demora a reagir a um toque</a:t>
            </a:r>
          </a:p>
        </p:txBody>
      </p:sp>
      <p:sp>
        <p:nvSpPr>
          <p:cNvPr id="9" name="Cartão"/>
          <p:cNvSpPr/>
          <p:nvPr/>
        </p:nvSpPr>
        <p:spPr>
          <a:xfrm>
            <a:off x="7973568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o"/>
          <p:cNvSpPr txBox="1"/>
          <p:nvPr/>
        </p:nvSpPr>
        <p:spPr>
          <a:xfrm>
            <a:off x="8138160" y="178308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46E31"/>
                </a:solidFill>
              </a:rPr>
              <a:t>≤ 0,1</a:t>
            </a:r>
          </a:p>
        </p:txBody>
      </p:sp>
      <p:sp>
        <p:nvSpPr>
          <p:cNvPr id="11" name="Texto"/>
          <p:cNvSpPr txBox="1"/>
          <p:nvPr/>
        </p:nvSpPr>
        <p:spPr>
          <a:xfrm>
            <a:off x="8138160" y="2651760"/>
            <a:ext cx="30175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04040"/>
                </a:solidFill>
              </a:rPr>
              <a:t>CLS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04040"/>
                </a:solidFill>
              </a:rPr>
              <a:t>quanto o layout “pula” enquanto carrega</a:t>
            </a:r>
          </a:p>
        </p:txBody>
      </p:sp>
      <p:sp>
        <p:nvSpPr>
          <p:cNvPr id="12" name="Texto"/>
          <p:cNvSpPr txBox="1"/>
          <p:nvPr/>
        </p:nvSpPr>
        <p:spPr>
          <a:xfrm>
            <a:off x="841248" y="4023360"/>
            <a:ext cx="51206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04040"/>
                </a:solidFill>
              </a:rPr>
              <a:t>As alavancas que você já conhece</a:t>
            </a:r>
          </a:p>
        </p:txBody>
      </p:sp>
      <p:sp>
        <p:nvSpPr>
          <p:cNvPr id="13" name="Texto"/>
          <p:cNvSpPr txBox="1"/>
          <p:nvPr/>
        </p:nvSpPr>
        <p:spPr>
          <a:xfrm>
            <a:off x="841248" y="4480560"/>
            <a:ext cx="512064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Cache</a:t>
            </a:r>
            <a:r>
              <a:rPr sz="1500" b="0">
                <a:solidFill>
                  <a:srgbClr val="404040"/>
                </a:solidFill>
              </a:rPr>
              <a:t>: sem ele, cada toque refaz todas as chamadas.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Evitar N+1</a:t>
            </a:r>
            <a:r>
              <a:rPr sz="1500" b="0">
                <a:solidFill>
                  <a:srgbClr val="404040"/>
                </a:solidFill>
              </a:rPr>
              <a:t>: um GET, não um por opção.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6236208" y="4480560"/>
            <a:ext cx="512064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Acordar a API</a:t>
            </a:r>
            <a:r>
              <a:rPr sz="1500" b="0">
                <a:solidFill>
                  <a:srgbClr val="404040"/>
                </a:solidFill>
              </a:rPr>
              <a:t> com mensagem honesta.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Nada externo</a:t>
            </a:r>
            <a:r>
              <a:rPr sz="1500" b="0">
                <a:solidFill>
                  <a:srgbClr val="404040"/>
                </a:solidFill>
              </a:rPr>
              <a:t> desnecessário: fontes, telemetria.</a:t>
            </a:r>
          </a:p>
        </p:txBody>
      </p:sp>
      <p:sp>
        <p:nvSpPr>
          <p:cNvPr id="15" name="Correlação"/>
          <p:cNvSpPr/>
          <p:nvPr/>
        </p:nvSpPr>
        <p:spPr>
          <a:xfrm>
            <a:off x="8211312" y="384048"/>
            <a:ext cx="3145536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20 · cache e hibernação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rPr dirty="0"/>
              <a:t>Rede </a:t>
            </a:r>
            <a:r>
              <a:rPr dirty="0" err="1"/>
              <a:t>intermitente</a:t>
            </a:r>
            <a:endParaRPr dirty="0"/>
          </a:p>
        </p:txBody>
      </p:sp>
      <p:pic>
        <p:nvPicPr>
          <p:cNvPr id="3" name="f58_rede" descr="f58_re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285" y="502920"/>
            <a:ext cx="2968469" cy="589788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26407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pt-BR" sz="1600" b="0" dirty="0">
                <a:solidFill>
                  <a:srgbClr val="404040"/>
                </a:solidFill>
              </a:rPr>
              <a:t>A </a:t>
            </a:r>
            <a:r>
              <a:rPr sz="1600" b="0" dirty="0" err="1">
                <a:solidFill>
                  <a:srgbClr val="404040"/>
                </a:solidFill>
              </a:rPr>
              <a:t>conexão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cai</a:t>
            </a:r>
            <a:r>
              <a:rPr sz="1600" b="0" dirty="0">
                <a:solidFill>
                  <a:srgbClr val="404040"/>
                </a:solidFill>
              </a:rPr>
              <a:t> no </a:t>
            </a:r>
            <a:r>
              <a:rPr sz="1600" b="0" dirty="0" err="1">
                <a:solidFill>
                  <a:srgbClr val="404040"/>
                </a:solidFill>
              </a:rPr>
              <a:t>meio</a:t>
            </a:r>
            <a:r>
              <a:rPr sz="1600" b="0" dirty="0">
                <a:solidFill>
                  <a:srgbClr val="404040"/>
                </a:solidFill>
              </a:rPr>
              <a:t> de </a:t>
            </a:r>
            <a:r>
              <a:rPr sz="1600" b="0" dirty="0" err="1">
                <a:solidFill>
                  <a:srgbClr val="404040"/>
                </a:solidFill>
              </a:rPr>
              <a:t>uma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ação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>
                <a:solidFill>
                  <a:srgbClr val="404040"/>
                </a:solidFill>
              </a:rPr>
              <a:t>Toda </a:t>
            </a:r>
            <a:r>
              <a:rPr sz="1600" b="0" dirty="0" err="1">
                <a:solidFill>
                  <a:srgbClr val="404040"/>
                </a:solidFill>
              </a:rPr>
              <a:t>chamada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tem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>
                <a:solidFill>
                  <a:srgbClr val="404040"/>
                </a:solidFill>
              </a:rPr>
              <a:t>tempo </a:t>
            </a:r>
            <a:r>
              <a:rPr sz="1600" b="1" dirty="0" err="1">
                <a:solidFill>
                  <a:srgbClr val="404040"/>
                </a:solidFill>
              </a:rPr>
              <a:t>limite</a:t>
            </a:r>
            <a:r>
              <a:rPr sz="1600" b="0" dirty="0">
                <a:solidFill>
                  <a:srgbClr val="404040"/>
                </a:solidFill>
              </a:rPr>
              <a:t> e </a:t>
            </a:r>
            <a:r>
              <a:rPr sz="1600" b="0" dirty="0" err="1">
                <a:solidFill>
                  <a:srgbClr val="404040"/>
                </a:solidFill>
              </a:rPr>
              <a:t>mensagem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>
                <a:solidFill>
                  <a:srgbClr val="404040"/>
                </a:solidFill>
              </a:rPr>
              <a:t>Falha </a:t>
            </a:r>
            <a:r>
              <a:rPr sz="1600" b="1" dirty="0" err="1">
                <a:solidFill>
                  <a:srgbClr val="404040"/>
                </a:solidFill>
              </a:rPr>
              <a:t>não</a:t>
            </a:r>
            <a:r>
              <a:rPr sz="1600" b="1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apaga</a:t>
            </a:r>
            <a:r>
              <a:rPr sz="1600" b="1" dirty="0">
                <a:solidFill>
                  <a:srgbClr val="404040"/>
                </a:solidFill>
              </a:rPr>
              <a:t> a </a:t>
            </a:r>
            <a:r>
              <a:rPr sz="1600" b="1" dirty="0" err="1">
                <a:solidFill>
                  <a:srgbClr val="404040"/>
                </a:solidFill>
              </a:rPr>
              <a:t>tela</a:t>
            </a:r>
            <a:r>
              <a:rPr sz="1600" b="0" dirty="0">
                <a:solidFill>
                  <a:srgbClr val="404040"/>
                </a:solidFill>
              </a:rPr>
              <a:t>: o </a:t>
            </a:r>
            <a:r>
              <a:rPr sz="1600" b="0" dirty="0" err="1">
                <a:solidFill>
                  <a:srgbClr val="404040"/>
                </a:solidFill>
              </a:rPr>
              <a:t>último</a:t>
            </a:r>
            <a:r>
              <a:rPr sz="1600" b="0" dirty="0">
                <a:solidFill>
                  <a:srgbClr val="404040"/>
                </a:solidFill>
              </a:rPr>
              <a:t> dado </a:t>
            </a:r>
            <a:r>
              <a:rPr sz="1600" b="0" dirty="0" err="1">
                <a:solidFill>
                  <a:srgbClr val="404040"/>
                </a:solidFill>
              </a:rPr>
              <a:t>fica</a:t>
            </a:r>
            <a:r>
              <a:rPr sz="1600" b="0" dirty="0">
                <a:solidFill>
                  <a:srgbClr val="404040"/>
                </a:solidFill>
              </a:rPr>
              <a:t>, com o </a:t>
            </a:r>
            <a:r>
              <a:rPr sz="1600" b="0" dirty="0" err="1">
                <a:solidFill>
                  <a:srgbClr val="404040"/>
                </a:solidFill>
              </a:rPr>
              <a:t>horário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 dirty="0" err="1">
                <a:solidFill>
                  <a:srgbClr val="404040"/>
                </a:solidFill>
              </a:rPr>
              <a:t>Escrita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1" dirty="0" err="1">
                <a:solidFill>
                  <a:srgbClr val="404040"/>
                </a:solidFill>
              </a:rPr>
              <a:t>não</a:t>
            </a:r>
            <a:r>
              <a:rPr sz="1600" b="1" dirty="0">
                <a:solidFill>
                  <a:srgbClr val="404040"/>
                </a:solidFill>
              </a:rPr>
              <a:t> se </a:t>
            </a:r>
            <a:r>
              <a:rPr sz="1600" b="1" dirty="0" err="1">
                <a:solidFill>
                  <a:srgbClr val="404040"/>
                </a:solidFill>
              </a:rPr>
              <a:t>perde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em</a:t>
            </a:r>
            <a:r>
              <a:rPr sz="1600" b="0" dirty="0">
                <a:solidFill>
                  <a:srgbClr val="404040"/>
                </a:solidFill>
              </a:rPr>
              <a:t> </a:t>
            </a:r>
            <a:r>
              <a:rPr sz="1600" b="0" dirty="0" err="1">
                <a:solidFill>
                  <a:srgbClr val="404040"/>
                </a:solidFill>
              </a:rPr>
              <a:t>silêncio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  <a:p>
            <a:pPr algn="l">
              <a:spcAft>
                <a:spcPts val="800"/>
              </a:spcAft>
            </a:pPr>
            <a:endParaRPr sz="1600" b="0" dirty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404040"/>
                </a:solidFill>
              </a:rPr>
              <a:t>Offline de </a:t>
            </a:r>
            <a:r>
              <a:rPr sz="1600" b="0" dirty="0" err="1">
                <a:solidFill>
                  <a:srgbClr val="404040"/>
                </a:solidFill>
              </a:rPr>
              <a:t>verdade</a:t>
            </a:r>
            <a:r>
              <a:rPr sz="1600" b="0" dirty="0">
                <a:solidFill>
                  <a:srgbClr val="404040"/>
                </a:solidFill>
              </a:rPr>
              <a:t> é </a:t>
            </a:r>
            <a:r>
              <a:rPr sz="1600" b="0" dirty="0" err="1">
                <a:solidFill>
                  <a:srgbClr val="404040"/>
                </a:solidFill>
              </a:rPr>
              <a:t>assunto</a:t>
            </a:r>
            <a:r>
              <a:rPr sz="1600" b="0" dirty="0">
                <a:solidFill>
                  <a:srgbClr val="404040"/>
                </a:solidFill>
              </a:rPr>
              <a:t> do </a:t>
            </a:r>
            <a:r>
              <a:rPr sz="1600" b="1" dirty="0">
                <a:solidFill>
                  <a:srgbClr val="404040"/>
                </a:solidFill>
              </a:rPr>
              <a:t>PWA</a:t>
            </a:r>
            <a:r>
              <a:rPr sz="1600" b="0" dirty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9</a:t>
            </a:r>
            <a:r>
              <a:rPr dirty="0"/>
              <a:t> · IA e </a:t>
            </a:r>
            <a:r>
              <a:rPr dirty="0" err="1"/>
              <a:t>componentes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pilares de UX para IA, no celular</a:t>
            </a:r>
          </a:p>
        </p:txBody>
      </p:sp>
      <p:sp>
        <p:nvSpPr>
          <p:cNvPr id="3" name="Cartão"/>
          <p:cNvSpPr/>
          <p:nvPr/>
        </p:nvSpPr>
        <p:spPr>
          <a:xfrm>
            <a:off x="841248" y="164592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ic_eye" descr="ic_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47088"/>
            <a:ext cx="566928" cy="566928"/>
          </a:xfrm>
          <a:prstGeom prst="rect">
            <a:avLst/>
          </a:prstGeom>
        </p:spPr>
      </p:pic>
      <p:sp>
        <p:nvSpPr>
          <p:cNvPr id="5" name="Texto"/>
          <p:cNvSpPr txBox="1"/>
          <p:nvPr/>
        </p:nvSpPr>
        <p:spPr>
          <a:xfrm>
            <a:off x="1709928" y="1810512"/>
            <a:ext cx="41147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404040"/>
                </a:solidFill>
              </a:rPr>
              <a:t>Transparência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1024128" y="2514600"/>
            <a:ext cx="4800600" cy="1142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</a:rPr>
              <a:t>Uma frase explica a conclusão; o detalhe fica a um toque.</a:t>
            </a:r>
          </a:p>
        </p:txBody>
      </p:sp>
      <p:sp>
        <p:nvSpPr>
          <p:cNvPr id="7" name="Cartão"/>
          <p:cNvSpPr/>
          <p:nvPr/>
        </p:nvSpPr>
        <p:spPr>
          <a:xfrm>
            <a:off x="6190488" y="164592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ic_gauge" descr="ic_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847088"/>
            <a:ext cx="566928" cy="566928"/>
          </a:xfrm>
          <a:prstGeom prst="rect">
            <a:avLst/>
          </a:prstGeom>
        </p:spPr>
      </p:pic>
      <p:sp>
        <p:nvSpPr>
          <p:cNvPr id="9" name="Texto"/>
          <p:cNvSpPr txBox="1"/>
          <p:nvPr/>
        </p:nvSpPr>
        <p:spPr>
          <a:xfrm>
            <a:off x="7059168" y="1810512"/>
            <a:ext cx="41147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404040"/>
                </a:solidFill>
              </a:rPr>
              <a:t>Gestão de incerteza</a:t>
            </a:r>
          </a:p>
        </p:txBody>
      </p:sp>
      <p:sp>
        <p:nvSpPr>
          <p:cNvPr id="10" name="Texto"/>
          <p:cNvSpPr txBox="1"/>
          <p:nvPr/>
        </p:nvSpPr>
        <p:spPr>
          <a:xfrm>
            <a:off x="6373368" y="2514600"/>
            <a:ext cx="4800600" cy="1142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</a:rPr>
              <a:t>Faixas com forma + texto + cor; a pior faixa promovida ao topo.</a:t>
            </a:r>
          </a:p>
        </p:txBody>
      </p:sp>
      <p:sp>
        <p:nvSpPr>
          <p:cNvPr id="11" name="Cartão"/>
          <p:cNvSpPr/>
          <p:nvPr/>
        </p:nvSpPr>
        <p:spPr>
          <a:xfrm>
            <a:off x="841248" y="3977639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ic_clock" descr="ic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178807"/>
            <a:ext cx="566928" cy="566928"/>
          </a:xfrm>
          <a:prstGeom prst="rect">
            <a:avLst/>
          </a:prstGeom>
        </p:spPr>
      </p:pic>
      <p:sp>
        <p:nvSpPr>
          <p:cNvPr id="13" name="Texto"/>
          <p:cNvSpPr txBox="1"/>
          <p:nvPr/>
        </p:nvSpPr>
        <p:spPr>
          <a:xfrm>
            <a:off x="1709928" y="4142231"/>
            <a:ext cx="41147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404040"/>
                </a:solidFill>
              </a:rPr>
              <a:t>Latência e feedback</a:t>
            </a:r>
          </a:p>
        </p:txBody>
      </p:sp>
      <p:sp>
        <p:nvSpPr>
          <p:cNvPr id="14" name="Texto"/>
          <p:cNvSpPr txBox="1"/>
          <p:nvPr/>
        </p:nvSpPr>
        <p:spPr>
          <a:xfrm>
            <a:off x="1024128" y="4846320"/>
            <a:ext cx="4800600" cy="1142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</a:rPr>
              <a:t>Estados explícitos e curtos; a tela nunca fica em branco.</a:t>
            </a:r>
          </a:p>
        </p:txBody>
      </p:sp>
      <p:sp>
        <p:nvSpPr>
          <p:cNvPr id="15" name="Cartão"/>
          <p:cNvSpPr/>
          <p:nvPr/>
        </p:nvSpPr>
        <p:spPr>
          <a:xfrm>
            <a:off x="6190488" y="3977639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ic_hand" descr="ic_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178807"/>
            <a:ext cx="566928" cy="566928"/>
          </a:xfrm>
          <a:prstGeom prst="rect">
            <a:avLst/>
          </a:prstGeom>
        </p:spPr>
      </p:pic>
      <p:sp>
        <p:nvSpPr>
          <p:cNvPr id="17" name="Texto"/>
          <p:cNvSpPr txBox="1"/>
          <p:nvPr/>
        </p:nvSpPr>
        <p:spPr>
          <a:xfrm>
            <a:off x="7059168" y="4142231"/>
            <a:ext cx="411479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404040"/>
                </a:solidFill>
              </a:rPr>
              <a:t>Human-in-the-loop</a:t>
            </a:r>
          </a:p>
        </p:txBody>
      </p:sp>
      <p:sp>
        <p:nvSpPr>
          <p:cNvPr id="18" name="Texto"/>
          <p:cNvSpPr txBox="1"/>
          <p:nvPr/>
        </p:nvSpPr>
        <p:spPr>
          <a:xfrm>
            <a:off x="6373368" y="4846320"/>
            <a:ext cx="4800600" cy="1142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04040"/>
                </a:solidFill>
              </a:rPr>
              <a:t>Um toque: opções prontas, botões de 48 px, texto opcional.</a:t>
            </a:r>
          </a:p>
        </p:txBody>
      </p:sp>
      <p:sp>
        <p:nvSpPr>
          <p:cNvPr id="19" name="Correlação"/>
          <p:cNvSpPr/>
          <p:nvPr/>
        </p:nvSpPr>
        <p:spPr>
          <a:xfrm>
            <a:off x="8691372" y="384048"/>
            <a:ext cx="2665476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quatro pilares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rPr dirty="0"/>
              <a:t>Human-in-the-loop</a:t>
            </a:r>
          </a:p>
        </p:txBody>
      </p:sp>
      <p:pic>
        <p:nvPicPr>
          <p:cNvPr id="3" name="f61_hitl" descr="f61_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285" y="502920"/>
            <a:ext cx="2968469" cy="589788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No desktop, pedir feedback é barato: teclado, mouse e tempo.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No celular, cada campo a mais </a:t>
            </a:r>
            <a:r>
              <a:rPr sz="1600" b="1">
                <a:solidFill>
                  <a:srgbClr val="404040"/>
                </a:solidFill>
              </a:rPr>
              <a:t>reduz a chance</a:t>
            </a:r>
            <a:r>
              <a:rPr sz="1600" b="0">
                <a:solidFill>
                  <a:srgbClr val="404040"/>
                </a:solidFill>
              </a:rPr>
              <a:t> de o feedback chegar.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404040"/>
              </a:solidFill>
            </a:endParaRP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Ocorrências comuns: </a:t>
            </a:r>
            <a:r>
              <a:rPr sz="1600" b="1">
                <a:solidFill>
                  <a:srgbClr val="404040"/>
                </a:solidFill>
              </a:rPr>
              <a:t>um toque</a:t>
            </a:r>
            <a:r>
              <a:rPr sz="1600" b="0">
                <a:solidFill>
                  <a:srgbClr val="404040"/>
                </a:solidFill>
              </a:rPr>
              <a:t> cada.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Texto livre: </a:t>
            </a:r>
            <a:r>
              <a:rPr sz="1600" b="1">
                <a:solidFill>
                  <a:srgbClr val="404040"/>
                </a:solidFill>
              </a:rPr>
              <a:t>opcional</a:t>
            </a:r>
            <a:r>
              <a:rPr sz="1600" b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404040"/>
                </a:solidFill>
              </a:rPr>
              <a:t>Folha sobre o contexto: o painel continua por trás.</a:t>
            </a:r>
          </a:p>
        </p:txBody>
      </p:sp>
      <p:sp>
        <p:nvSpPr>
          <p:cNvPr id="5" name="Correlação"/>
          <p:cNvSpPr/>
          <p:nvPr/>
        </p:nvSpPr>
        <p:spPr>
          <a:xfrm>
            <a:off x="5925312" y="6053328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 2 · human-in-the-loop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Acessibilidade como requisito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841248" y="1554480"/>
          <a:ext cx="6949440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Critério WCAG 2.2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Nível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Em uma frase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Parte</a:t>
                      </a:r>
                    </a:p>
                  </a:txBody>
                  <a:tcPr marL="73152" marR="73152" marT="27432" marB="27432" anchor="ctr">
                    <a:solidFill>
                      <a:srgbClr val="E2B1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1.3.4 Orientação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Funcionar em retrato e paisagem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1.4.1 Uso de cor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Cor nunca é o único meio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05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1.4.3 Contraste mínimo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4,5:1 para texto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1.4.4 Redimensionar texto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Zoom até 200% sem perda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05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1.4.10 Reflow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Sem rolagem 2D a 320 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1.4.11 Contraste não textual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3:1 para limites de componentes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05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2.5.1 Gestos de ponteiro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Alternativa a gestos complexos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2.5.7 Movimentos de arrastar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Alternativa a arrastar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06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2.5.8 Tamanho do alvo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24 × 24 px no mínimo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3.3.1 Identificação de erro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O erro é descrito em texto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04040"/>
                          </a:solidFill>
                        </a:rPr>
                        <a:t>06 · 08</a:t>
                      </a:r>
                    </a:p>
                  </a:txBody>
                  <a:tcPr marL="73152" marR="73152" marT="27432" marB="27432" anchor="ctr">
                    <a:solidFill>
                      <a:srgbClr val="FB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c_accessibility" descr="ic_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1188720" cy="1188720"/>
          </a:xfrm>
          <a:prstGeom prst="rect">
            <a:avLst/>
          </a:prstGeom>
        </p:spPr>
      </p:pic>
      <p:sp>
        <p:nvSpPr>
          <p:cNvPr id="6" name="Texto"/>
          <p:cNvSpPr txBox="1"/>
          <p:nvPr/>
        </p:nvSpPr>
        <p:spPr>
          <a:xfrm>
            <a:off x="8046720" y="3017520"/>
            <a:ext cx="3291840" cy="108132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 dirty="0" err="1">
                <a:solidFill>
                  <a:srgbClr val="404040"/>
                </a:solidFill>
              </a:rPr>
              <a:t>Leitores</a:t>
            </a:r>
            <a:r>
              <a:rPr sz="1500" b="1" dirty="0">
                <a:solidFill>
                  <a:srgbClr val="404040"/>
                </a:solidFill>
              </a:rPr>
              <a:t> de </a:t>
            </a:r>
            <a:r>
              <a:rPr sz="1500" b="1" dirty="0" err="1">
                <a:solidFill>
                  <a:srgbClr val="404040"/>
                </a:solidFill>
              </a:rPr>
              <a:t>tela</a:t>
            </a:r>
            <a:r>
              <a:rPr sz="1500" b="0" dirty="0">
                <a:solidFill>
                  <a:srgbClr val="404040"/>
                </a:solidFill>
              </a:rPr>
              <a:t>: </a:t>
            </a:r>
            <a:r>
              <a:rPr sz="1500" b="0" dirty="0" err="1">
                <a:solidFill>
                  <a:srgbClr val="404040"/>
                </a:solidFill>
              </a:rPr>
              <a:t>selos</a:t>
            </a:r>
            <a:r>
              <a:rPr sz="1500" b="0" dirty="0">
                <a:solidFill>
                  <a:srgbClr val="404040"/>
                </a:solidFill>
              </a:rPr>
              <a:t> com </a:t>
            </a:r>
            <a:r>
              <a:rPr sz="1500" b="0" dirty="0" err="1">
                <a:solidFill>
                  <a:srgbClr val="404040"/>
                </a:solidFill>
              </a:rPr>
              <a:t>texto</a:t>
            </a:r>
            <a:r>
              <a:rPr sz="1500" b="0" dirty="0">
                <a:solidFill>
                  <a:srgbClr val="404040"/>
                </a:solidFill>
              </a:rPr>
              <a:t>; </a:t>
            </a:r>
            <a:r>
              <a:rPr sz="1500" b="0" dirty="0" err="1">
                <a:solidFill>
                  <a:srgbClr val="404040"/>
                </a:solidFill>
              </a:rPr>
              <a:t>ícones</a:t>
            </a:r>
            <a:r>
              <a:rPr sz="1500" b="0" dirty="0">
                <a:solidFill>
                  <a:srgbClr val="404040"/>
                </a:solidFill>
              </a:rPr>
              <a:t> </a:t>
            </a:r>
            <a:r>
              <a:rPr sz="1500" b="0" dirty="0" err="1">
                <a:solidFill>
                  <a:srgbClr val="404040"/>
                </a:solidFill>
              </a:rPr>
              <a:t>decorativos</a:t>
            </a:r>
            <a:r>
              <a:rPr sz="1500" b="0" dirty="0">
                <a:solidFill>
                  <a:srgbClr val="404040"/>
                </a:solidFill>
              </a:rPr>
              <a:t> </a:t>
            </a:r>
            <a:r>
              <a:rPr sz="1500" b="0" dirty="0" err="1">
                <a:solidFill>
                  <a:srgbClr val="404040"/>
                </a:solidFill>
              </a:rPr>
              <a:t>ocultos</a:t>
            </a:r>
            <a:r>
              <a:rPr sz="1500" b="0" dirty="0">
                <a:solidFill>
                  <a:srgbClr val="404040"/>
                </a:solidFill>
              </a:rPr>
              <a:t>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 dirty="0" err="1">
                <a:solidFill>
                  <a:srgbClr val="404040"/>
                </a:solidFill>
              </a:rPr>
              <a:t>Papéis</a:t>
            </a:r>
            <a:r>
              <a:rPr sz="1500" b="1" dirty="0">
                <a:solidFill>
                  <a:srgbClr val="404040"/>
                </a:solidFill>
              </a:rPr>
              <a:t> ARIA</a:t>
            </a:r>
            <a:r>
              <a:rPr sz="1500" b="0" dirty="0">
                <a:solidFill>
                  <a:srgbClr val="404040"/>
                </a:solidFill>
              </a:rPr>
              <a:t> </a:t>
            </a:r>
            <a:r>
              <a:rPr sz="1500" b="0" dirty="0" err="1">
                <a:solidFill>
                  <a:srgbClr val="404040"/>
                </a:solidFill>
              </a:rPr>
              <a:t>são</a:t>
            </a:r>
            <a:r>
              <a:rPr sz="1500" b="0" dirty="0">
                <a:solidFill>
                  <a:srgbClr val="404040"/>
                </a:solidFill>
              </a:rPr>
              <a:t> </a:t>
            </a:r>
            <a:r>
              <a:rPr sz="1500" b="0" dirty="0" err="1">
                <a:solidFill>
                  <a:srgbClr val="404040"/>
                </a:solidFill>
              </a:rPr>
              <a:t>contratos</a:t>
            </a:r>
            <a:r>
              <a:rPr sz="1500" b="0" dirty="0">
                <a:solidFill>
                  <a:srgbClr val="404040"/>
                </a:solidFill>
              </a:rPr>
              <a:t> </a:t>
            </a:r>
            <a:r>
              <a:rPr sz="1500" b="0" dirty="0" err="1">
                <a:solidFill>
                  <a:srgbClr val="404040"/>
                </a:solidFill>
              </a:rPr>
              <a:t>estáveis</a:t>
            </a:r>
            <a:r>
              <a:rPr sz="1500" b="0" dirty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Atomic </a:t>
            </a:r>
            <a:r>
              <a:rPr dirty="0" err="1"/>
              <a:t>DesigN</a:t>
            </a:r>
            <a:endParaRPr dirty="0"/>
          </a:p>
        </p:txBody>
      </p:sp>
      <p:pic>
        <p:nvPicPr>
          <p:cNvPr id="4" name="f63_atomic" descr="f63_ato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7057"/>
            <a:ext cx="10515600" cy="40954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contrato de um componente</a:t>
            </a:r>
          </a:p>
        </p:txBody>
      </p:sp>
      <p:pic>
        <p:nvPicPr>
          <p:cNvPr id="3" name="f64_contrato" descr="f64_contra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4541"/>
            <a:ext cx="10515600" cy="3560476"/>
          </a:xfrm>
          <a:prstGeom prst="rect">
            <a:avLst/>
          </a:prstGeom>
        </p:spPr>
      </p:pic>
      <p:sp>
        <p:nvSpPr>
          <p:cNvPr id="4" name="Correlação"/>
          <p:cNvSpPr/>
          <p:nvPr/>
        </p:nvSpPr>
        <p:spPr>
          <a:xfrm>
            <a:off x="8787384" y="384048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FBF4EF"/>
          </a:solidFill>
          <a:ln w="12700">
            <a:solidFill>
              <a:srgbClr val="E2B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C46E31"/>
                </a:solidFill>
              </a:rPr>
              <a:t>↺ Aulas 6 e 15 · camadas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168" y="822960"/>
            <a:ext cx="5431536" cy="1234440"/>
          </a:xfrm>
        </p:spPr>
        <p:txBody>
          <a:bodyPr/>
          <a:lstStyle/>
          <a:p>
            <a:r>
              <a:t>Especificando um componente</a:t>
            </a:r>
          </a:p>
        </p:txBody>
      </p:sp>
      <p:pic>
        <p:nvPicPr>
          <p:cNvPr id="3" name="f65_spec_selo" descr="f65_spec_s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89320"/>
            <a:ext cx="5212080" cy="5725080"/>
          </a:xfrm>
          <a:prstGeom prst="rect">
            <a:avLst/>
          </a:prstGeom>
        </p:spPr>
      </p:pic>
      <p:sp>
        <p:nvSpPr>
          <p:cNvPr id="4" name="Texto"/>
          <p:cNvSpPr txBox="1"/>
          <p:nvPr/>
        </p:nvSpPr>
        <p:spPr>
          <a:xfrm>
            <a:off x="5925312" y="2240280"/>
            <a:ext cx="5431536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04040"/>
                </a:solidFill>
              </a:rPr>
              <a:t>Selo de severidade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Propósito</a:t>
            </a:r>
            <a:r>
              <a:rPr sz="1500" b="0">
                <a:solidFill>
                  <a:srgbClr val="404040"/>
                </a:solidFill>
              </a:rPr>
              <a:t>: comunicar a severidade de uma leitura.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Entrada</a:t>
            </a:r>
            <a:r>
              <a:rPr sz="1500" b="0">
                <a:solidFill>
                  <a:srgbClr val="404040"/>
                </a:solidFill>
              </a:rPr>
              <a:t>: normal, aviso, critico ou ausente.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Anatomia</a:t>
            </a:r>
            <a:r>
              <a:rPr sz="1500" b="0">
                <a:solidFill>
                  <a:srgbClr val="404040"/>
                </a:solidFill>
              </a:rPr>
              <a:t>: forma + rótulo + fundo suave.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Regras</a:t>
            </a:r>
            <a:r>
              <a:rPr sz="1500" b="0">
                <a:solidFill>
                  <a:srgbClr val="404040"/>
                </a:solidFill>
              </a:rPr>
              <a:t>: nunca para status operacional; nunca sem rótulo; ≥ 4,5:1 nos dois modos.</a:t>
            </a:r>
          </a:p>
          <a:p>
            <a:pPr marL="256032" indent="-219456" algn="l">
              <a:spcAft>
                <a:spcPts val="800"/>
              </a:spcAft>
              <a:buFont typeface="Arial"/>
              <a:buChar char="•"/>
            </a:pPr>
            <a:r>
              <a:rPr sz="1500" b="1">
                <a:solidFill>
                  <a:srgbClr val="404040"/>
                </a:solidFill>
              </a:rPr>
              <a:t>Não fazer</a:t>
            </a:r>
            <a:r>
              <a:rPr sz="1500" b="0">
                <a:solidFill>
                  <a:srgbClr val="404040"/>
                </a:solidFill>
              </a:rPr>
              <a:t>: círculo colorido; cor de severidade em botão.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Governança: o design system como produto</a:t>
            </a:r>
          </a:p>
        </p:txBody>
      </p:sp>
      <p:pic>
        <p:nvPicPr>
          <p:cNvPr id="4" name="f66_governanca" descr="f66_govern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92" y="1600200"/>
            <a:ext cx="10376511" cy="4709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564</TotalTime>
  <Words>3687</Words>
  <Application>Microsoft Office PowerPoint</Application>
  <PresentationFormat>Widescreen</PresentationFormat>
  <Paragraphs>328</Paragraphs>
  <Slides>55</Slides>
  <Notes>55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9" baseType="lpstr">
      <vt:lpstr>Arial</vt:lpstr>
      <vt:lpstr>Calibri</vt:lpstr>
      <vt:lpstr>Tenorite</vt:lpstr>
      <vt:lpstr>Linha única</vt:lpstr>
      <vt:lpstr>Design System para Mobile</vt:lpstr>
      <vt:lpstr>01 · O que é um design system</vt:lpstr>
      <vt:lpstr>Do que um design system é feito</vt:lpstr>
      <vt:lpstr>O que não é design system</vt:lpstr>
      <vt:lpstr>No Python, o design system é código</vt:lpstr>
      <vt:lpstr>02 · Mobile não é um desktop menor</vt:lpstr>
      <vt:lpstr>Seis condições mudam ao mesmo tempo</vt:lpstr>
      <vt:lpstr>03 · Mobile first</vt:lpstr>
      <vt:lpstr>Comece pela tela menor</vt:lpstr>
      <vt:lpstr>Classes de tamanho de janela</vt:lpstr>
      <vt:lpstr>O Python não sabe a largura da tela</vt:lpstr>
      <vt:lpstr>Componentes que se reorganizam sozinhos</vt:lpstr>
      <vt:lpstr>04 · Tokens e fundamentos</vt:lpstr>
      <vt:lpstr>Design token: uma decisão com nome</vt:lpstr>
      <vt:lpstr>Três camadas de tokens</vt:lpstr>
      <vt:lpstr>Nomeie pelo propósito</vt:lpstr>
      <vt:lpstr>Um símbolo, um significado</vt:lpstr>
      <vt:lpstr>Normal é discreto, anormal é ruidoso</vt:lpstr>
      <vt:lpstr>Cor nunca sozinha</vt:lpstr>
      <vt:lpstr>Contraste</vt:lpstr>
      <vt:lpstr>Modo escuro não é inverter cores</vt:lpstr>
      <vt:lpstr>Tipografia</vt:lpstr>
      <vt:lpstr>Espaço e grade</vt:lpstr>
      <vt:lpstr>Forma, iconografia e movimento</vt:lpstr>
      <vt:lpstr>05 · Interação por toque</vt:lpstr>
      <vt:lpstr>Alvos de toque</vt:lpstr>
      <vt:lpstr>A lei de Fitts</vt:lpstr>
      <vt:lpstr>A zona do polegar</vt:lpstr>
      <vt:lpstr>Não existe hover</vt:lpstr>
      <vt:lpstr>Gestos e a armadilha de rolagem</vt:lpstr>
      <vt:lpstr>O teclado virtual</vt:lpstr>
      <vt:lpstr>06 · Navegação</vt:lpstr>
      <vt:lpstr>Padrões de navegação</vt:lpstr>
      <vt:lpstr>A sidebar não sobrevive ao celular</vt:lpstr>
      <vt:lpstr>Profundidade rasa</vt:lpstr>
      <vt:lpstr>A URL como estado: deep links</vt:lpstr>
      <vt:lpstr>Revelação progressiva</vt:lpstr>
      <vt:lpstr>07 · Conteúdo e dados no celular</vt:lpstr>
      <vt:lpstr>Tabela vira card</vt:lpstr>
      <vt:lpstr>O status primeiro</vt:lpstr>
      <vt:lpstr>O teste dos dois segundos</vt:lpstr>
      <vt:lpstr>Tendência e gráficos no celular</vt:lpstr>
      <vt:lpstr>Conteúdo também é design system</vt:lpstr>
      <vt:lpstr>08 · Estados e desempenho</vt:lpstr>
      <vt:lpstr>Seis estados de toda tela de dados</vt:lpstr>
      <vt:lpstr>Desempenho percebido: Core Web Vitals</vt:lpstr>
      <vt:lpstr>Rede intermitente</vt:lpstr>
      <vt:lpstr>9 · IA e componentes</vt:lpstr>
      <vt:lpstr>Os pilares de UX para IA, no celular</vt:lpstr>
      <vt:lpstr>Human-in-the-loop</vt:lpstr>
      <vt:lpstr>Acessibilidade como requisito</vt:lpstr>
      <vt:lpstr>Atomic DesigN</vt:lpstr>
      <vt:lpstr>O contrato de um componente</vt:lpstr>
      <vt:lpstr>Especificando um componente</vt:lpstr>
      <vt:lpstr>Governança: o design system como produto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Tadeu Cunha Rios</cp:lastModifiedBy>
  <cp:revision>39</cp:revision>
  <dcterms:created xsi:type="dcterms:W3CDTF">2026-02-08T14:58:32Z</dcterms:created>
  <dcterms:modified xsi:type="dcterms:W3CDTF">2026-10-05T23:06:30Z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