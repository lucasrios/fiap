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313" r:id="rId6"/>
    <p:sldId id="335" r:id="rId7"/>
    <p:sldId id="318" r:id="rId8"/>
    <p:sldId id="336" r:id="rId9"/>
    <p:sldId id="337" r:id="rId10"/>
    <p:sldId id="270" r:id="rId11"/>
    <p:sldId id="326" r:id="rId12"/>
    <p:sldId id="266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276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23/02/2026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23/02/2026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F4D-D70C-E590-04B7-615F74B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703733-19CD-630C-3C5F-4E926F243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C6E53-04C6-9FD8-97B1-34D6192E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66B9D-25FD-50B8-4254-1A1E945F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0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A868-534B-E521-F8EC-651552F1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8AD7A7-9ACD-7E9B-F4C9-230B39B5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E31DE2-A18C-05C8-905D-FA260CE1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84CD17-0EE5-5AEB-04E0-23017246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855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235E-9F99-AAAF-0883-2658B11C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1F10D0-62EB-C26B-E446-CDEAFC13E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07AE80-6322-316E-5FE0-427515DDB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B2AC9E-E940-4A4A-AEC3-90E7F4CF7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81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F4D-D70C-E590-04B7-615F74B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703733-19CD-630C-3C5F-4E926F243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C6E53-04C6-9FD8-97B1-34D6192E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66B9D-25FD-50B8-4254-1A1E945F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0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26D2-1DB4-F97E-22D4-AB268F8B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546963-5E25-A783-5186-4B98D7FE1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6CAD1B-0395-FA24-A03E-DF4450850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11D17C-1748-07A0-C0CF-BB6E5E45F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30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13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0219-927F-05D4-2BB7-9A009BCC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102B4A-A01A-B9CD-52B0-98177899A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90506F-7DF8-B8B9-8BCE-41BBB77B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CC8E1-AB3C-20C4-468A-BA6DB4667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600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48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D06E-AD4E-661A-6118-3EB003E6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8262A2-F4E2-4F16-0CCA-066A62AA7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30D4D4-3A82-5706-161E-BD7C7A602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EA8139-9605-3E47-04E9-297D9D89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463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F8BE-B210-3D69-67EB-938C5129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7B63FE0-6CB5-6B31-486E-4D094D46F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DD2148-9450-B103-D7E9-70E3F3A0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9FE8D4-6C0D-A7FB-AF3E-89A2FA0B4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590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885A-2933-878A-8DF5-36D6B51F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61BD83-D87C-87B5-6848-032037A27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96B779-0B44-AEE5-3349-E73D12ECD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608DB4-76F4-E55B-C8C2-5828693AE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38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32167-4A65-F119-49F9-87B15384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F220201-69E9-1A26-F94E-23CA2631E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24A2EB-5A5F-0C7B-DF7C-88E57D7AE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A125CC-35B9-1F65-FD51-0B22EB19A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67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C893-E5F7-3B2C-E96E-D2560D9E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12D6AC-C12E-5C57-2887-F3AC11EF1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3C9DA5D-DB6C-97CC-71B5-EAB49C0C9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57DA7B-F10A-FCF3-5DFA-8C8EE8068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863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0B79-50FA-16D2-5A1B-A371EB4D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B307E6-D635-AF09-57D0-5EAC62880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5CC721-7699-65B7-73F7-6A7C495E1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21FC1F-C697-2FCA-E472-D516E9B34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657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66B4-931A-B282-F9E5-3C3A0256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C32A42-D6D7-9D48-0A02-3AF55D845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3227C7-2FED-7812-263E-F37CD2BC8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DAAFED-CC11-B9E8-FDF2-E9348817C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630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 e tabel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 gráfico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1064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  <p:sldLayoutId id="2147483701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t-BR" dirty="0"/>
              <a:t>Caching, Performance e Conectividade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6AC-F004-30CE-8295-D553E01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C2D00-3DB0-E74A-BD51-FD53D19B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Caching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A1C77E-2D3A-B96C-D272-39467FE04A83}"/>
              </a:ext>
            </a:extLst>
          </p:cNvPr>
          <p:cNvSpPr txBox="1"/>
          <p:nvPr/>
        </p:nvSpPr>
        <p:spPr>
          <a:xfrm>
            <a:off x="1230701" y="2212522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Mecanismo </a:t>
            </a:r>
            <a:r>
              <a:rPr lang="pt-BR" b="1" dirty="0"/>
              <a:t>de armazenar o resultado de uma execução custosa</a:t>
            </a:r>
            <a:r>
              <a:rPr lang="pt-BR" dirty="0"/>
              <a:t> para reutilizá-lo posteriormente sem recalcular.</a:t>
            </a:r>
          </a:p>
        </p:txBody>
      </p:sp>
    </p:spTree>
    <p:extLst>
      <p:ext uri="{BB962C8B-B14F-4D97-AF65-F5344CB8AC3E}">
        <p14:creationId xmlns:p14="http://schemas.microsoft.com/office/powerpoint/2010/main" val="355505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F20A-0A87-2D5E-F870-047F4FEE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B8EF0-8338-3DBC-EE53-C1E0C12B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Caching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3366F2-DFFC-E99A-9354-A575E45414FB}"/>
              </a:ext>
            </a:extLst>
          </p:cNvPr>
          <p:cNvSpPr txBox="1"/>
          <p:nvPr/>
        </p:nvSpPr>
        <p:spPr>
          <a:xfrm>
            <a:off x="1230701" y="2212522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Mecanismo </a:t>
            </a:r>
            <a:r>
              <a:rPr lang="pt-BR" b="1" dirty="0"/>
              <a:t>de armazenar o resultado de uma execução custosa</a:t>
            </a:r>
            <a:r>
              <a:rPr lang="pt-BR" dirty="0"/>
              <a:t> para reutilizá-lo posteriormente sem recalcular.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F6B98B-9027-8101-7554-E696B56328EF}"/>
              </a:ext>
            </a:extLst>
          </p:cNvPr>
          <p:cNvSpPr txBox="1"/>
          <p:nvPr/>
        </p:nvSpPr>
        <p:spPr>
          <a:xfrm>
            <a:off x="1230701" y="3999148"/>
            <a:ext cx="9730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Se a entrada não mudou, o resultado também não precisa mudar.</a:t>
            </a:r>
          </a:p>
        </p:txBody>
      </p:sp>
    </p:spTree>
    <p:extLst>
      <p:ext uri="{BB962C8B-B14F-4D97-AF65-F5344CB8AC3E}">
        <p14:creationId xmlns:p14="http://schemas.microsoft.com/office/powerpoint/2010/main" val="77292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198E-AD45-883D-BCE0-D2709A79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8791-E8ED-10A7-C381-F01787AF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Caching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5164C3-7EF2-2036-CD6C-2F06FF139009}"/>
              </a:ext>
            </a:extLst>
          </p:cNvPr>
          <p:cNvSpPr txBox="1"/>
          <p:nvPr/>
        </p:nvSpPr>
        <p:spPr>
          <a:xfrm>
            <a:off x="769188" y="2217740"/>
            <a:ext cx="490439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Sem cache, qualquer ajuste em um </a:t>
            </a:r>
            <a:r>
              <a:rPr lang="pt-BR" sz="2800" b="1" dirty="0" err="1"/>
              <a:t>slider</a:t>
            </a:r>
            <a:r>
              <a:rPr lang="pt-BR" sz="2800" b="1" dirty="0"/>
              <a:t> poderia</a:t>
            </a:r>
            <a:r>
              <a:rPr lang="pt-BR" sz="2800" dirty="0"/>
              <a:t>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Recarregar um CSV grande.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Reexecutar uma query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Reprocessar um modelo de 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Fazer múltiplas chamadas a API.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DFFCCF-DB1C-BFCF-0EA2-FE8536D4E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000510" y="4136113"/>
            <a:ext cx="4303830" cy="46708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2842E8D-91DD-C6AC-2FEA-3D1CE5480F94}"/>
              </a:ext>
            </a:extLst>
          </p:cNvPr>
          <p:cNvSpPr txBox="1"/>
          <p:nvPr/>
        </p:nvSpPr>
        <p:spPr>
          <a:xfrm>
            <a:off x="6385967" y="2217740"/>
            <a:ext cx="609887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Isso aumenta:</a:t>
            </a:r>
          </a:p>
          <a:p>
            <a:endParaRPr lang="pt-BR" dirty="0"/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Lentidão perceptível.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Consumo desnecessário de CPU.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Custos maiores (em APIs pagas).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Experiência ruim para o usuário.</a:t>
            </a:r>
          </a:p>
        </p:txBody>
      </p:sp>
    </p:spTree>
    <p:extLst>
      <p:ext uri="{BB962C8B-B14F-4D97-AF65-F5344CB8AC3E}">
        <p14:creationId xmlns:p14="http://schemas.microsoft.com/office/powerpoint/2010/main" val="139966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6AC-F004-30CE-8295-D553E01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C2D00-3DB0-E74A-BD51-FD53D19B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Caching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176703-8B2E-9218-39CA-2B091D49F862}"/>
              </a:ext>
            </a:extLst>
          </p:cNvPr>
          <p:cNvSpPr/>
          <p:nvPr/>
        </p:nvSpPr>
        <p:spPr>
          <a:xfrm>
            <a:off x="4514516" y="1171364"/>
            <a:ext cx="4313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script sempre começa do topo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18E0B3-62AA-F730-CCAD-D724D31530B9}"/>
              </a:ext>
            </a:extLst>
          </p:cNvPr>
          <p:cNvSpPr/>
          <p:nvPr/>
        </p:nvSpPr>
        <p:spPr>
          <a:xfrm>
            <a:off x="4514516" y="2285529"/>
            <a:ext cx="4313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Widgets capturam valores do usuário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5B0B94B-ED27-5A31-5C21-ADC7216999F9}"/>
              </a:ext>
            </a:extLst>
          </p:cNvPr>
          <p:cNvSpPr/>
          <p:nvPr/>
        </p:nvSpPr>
        <p:spPr>
          <a:xfrm>
            <a:off x="4514516" y="3360309"/>
            <a:ext cx="4313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código usa esses valores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4FEBB7-FC0D-E85C-DC67-0607B9AB61FA}"/>
              </a:ext>
            </a:extLst>
          </p:cNvPr>
          <p:cNvSpPr/>
          <p:nvPr/>
        </p:nvSpPr>
        <p:spPr>
          <a:xfrm>
            <a:off x="4514516" y="4435089"/>
            <a:ext cx="4313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script termina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B20FA7D-E0AE-8AE1-96CE-E6A96D9C922E}"/>
              </a:ext>
            </a:extLst>
          </p:cNvPr>
          <p:cNvSpPr/>
          <p:nvPr/>
        </p:nvSpPr>
        <p:spPr>
          <a:xfrm>
            <a:off x="4514516" y="5509869"/>
            <a:ext cx="4313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Nova interação → tudo recomeça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76A8112D-5576-A7FA-1BE3-F3BE4F2ECE5B}"/>
              </a:ext>
            </a:extLst>
          </p:cNvPr>
          <p:cNvSpPr/>
          <p:nvPr/>
        </p:nvSpPr>
        <p:spPr>
          <a:xfrm>
            <a:off x="6360568" y="1925384"/>
            <a:ext cx="603849" cy="57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CDE9C20A-92DF-0C56-C5E9-4F9D9FD5D376}"/>
              </a:ext>
            </a:extLst>
          </p:cNvPr>
          <p:cNvSpPr/>
          <p:nvPr/>
        </p:nvSpPr>
        <p:spPr>
          <a:xfrm>
            <a:off x="6369195" y="2994348"/>
            <a:ext cx="603849" cy="57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E62B13DF-F307-6DAF-D489-E25D20F153E2}"/>
              </a:ext>
            </a:extLst>
          </p:cNvPr>
          <p:cNvSpPr/>
          <p:nvPr/>
        </p:nvSpPr>
        <p:spPr>
          <a:xfrm>
            <a:off x="6360567" y="4070498"/>
            <a:ext cx="603849" cy="57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BED7CA9E-B827-6FD1-CD5F-2154593EAF2E}"/>
              </a:ext>
            </a:extLst>
          </p:cNvPr>
          <p:cNvSpPr/>
          <p:nvPr/>
        </p:nvSpPr>
        <p:spPr>
          <a:xfrm>
            <a:off x="6351941" y="5143908"/>
            <a:ext cx="603849" cy="5715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em Forma de U 14">
            <a:extLst>
              <a:ext uri="{FF2B5EF4-FFF2-40B4-BE49-F238E27FC236}">
                <a16:creationId xmlns:a16="http://schemas.microsoft.com/office/drawing/2014/main" id="{48907D8F-81C3-6109-CBDA-1E7015BB2F81}"/>
              </a:ext>
            </a:extLst>
          </p:cNvPr>
          <p:cNvSpPr/>
          <p:nvPr/>
        </p:nvSpPr>
        <p:spPr>
          <a:xfrm rot="16200000" flipV="1">
            <a:off x="7409250" y="2495818"/>
            <a:ext cx="5161454" cy="2324507"/>
          </a:xfrm>
          <a:prstGeom prst="uturnArrow">
            <a:avLst>
              <a:gd name="adj1" fmla="val 25000"/>
              <a:gd name="adj2" fmla="val 24258"/>
              <a:gd name="adj3" fmla="val 29453"/>
              <a:gd name="adj4" fmla="val 43750"/>
              <a:gd name="adj5" fmla="val 987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352EB0-01D4-E36B-2B5B-6F17925E2B56}"/>
              </a:ext>
            </a:extLst>
          </p:cNvPr>
          <p:cNvSpPr/>
          <p:nvPr/>
        </p:nvSpPr>
        <p:spPr>
          <a:xfrm>
            <a:off x="297895" y="3187600"/>
            <a:ext cx="3174521" cy="1259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err="1">
                <a:solidFill>
                  <a:schemeClr val="tx1"/>
                </a:solidFill>
              </a:rPr>
              <a:t>Streamlit</a:t>
            </a:r>
            <a:r>
              <a:rPr lang="pt-BR" b="1" dirty="0">
                <a:solidFill>
                  <a:schemeClr val="tx1"/>
                </a:solidFill>
              </a:rPr>
              <a:t> verifica: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- A função mudou?</a:t>
            </a:r>
          </a:p>
          <a:p>
            <a:r>
              <a:rPr lang="pt-BR" dirty="0">
                <a:solidFill>
                  <a:schemeClr val="tx1"/>
                </a:solidFill>
              </a:rPr>
              <a:t>- Os parâmetros mudaram?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CFBCD70-886F-6F62-2B95-5EDC1418C4D9}"/>
              </a:ext>
            </a:extLst>
          </p:cNvPr>
          <p:cNvCxnSpPr>
            <a:cxnSpLocks/>
            <a:stCxn id="8" idx="1"/>
            <a:endCxn id="3" idx="3"/>
          </p:cNvCxnSpPr>
          <p:nvPr/>
        </p:nvCxnSpPr>
        <p:spPr>
          <a:xfrm flipH="1">
            <a:off x="3472416" y="3817509"/>
            <a:ext cx="10421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8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68BA-224D-9D71-3556-317FB11F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2D3FA-81E0-0716-4C3E-27974225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Caching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DF7200-EF14-C0DE-A7C9-817EAD32A5FB}"/>
              </a:ext>
            </a:extLst>
          </p:cNvPr>
          <p:cNvSpPr txBox="1"/>
          <p:nvPr/>
        </p:nvSpPr>
        <p:spPr>
          <a:xfrm>
            <a:off x="1191610" y="2148728"/>
            <a:ext cx="490439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Quando Usar:</a:t>
            </a:r>
            <a:endParaRPr lang="pt-BR" sz="2800" dirty="0"/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Isso é custoso?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 resultado depende apenas desses parâmetros?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Ele precisa ser recalculado a cada interação?</a:t>
            </a:r>
          </a:p>
        </p:txBody>
      </p:sp>
    </p:spTree>
    <p:extLst>
      <p:ext uri="{BB962C8B-B14F-4D97-AF65-F5344CB8AC3E}">
        <p14:creationId xmlns:p14="http://schemas.microsoft.com/office/powerpoint/2010/main" val="72504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 err="1"/>
              <a:t>st.cache_data</a:t>
            </a:r>
            <a:br>
              <a:rPr lang="pt-BR" dirty="0"/>
            </a:br>
            <a:r>
              <a:rPr lang="pt-BR" dirty="0"/>
              <a:t>Usado para dados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DEEA63-2B4E-9371-BA47-29F3EFBF5F0C}"/>
              </a:ext>
            </a:extLst>
          </p:cNvPr>
          <p:cNvSpPr txBox="1"/>
          <p:nvPr/>
        </p:nvSpPr>
        <p:spPr>
          <a:xfrm>
            <a:off x="4944367" y="4098088"/>
            <a:ext cx="41382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DataFrames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Resultados de transformação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Chamadas de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Queries SQL</a:t>
            </a:r>
          </a:p>
        </p:txBody>
      </p:sp>
      <p:pic>
        <p:nvPicPr>
          <p:cNvPr id="4" name="Imagem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1225141B-7FC4-5A0B-C2D7-B0097C70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367" y="2098275"/>
            <a:ext cx="6845273" cy="177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29FB-304E-13A8-6D92-A0E2F132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832BCA6-9F19-D1BB-4164-D7DE8342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1152771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 err="1"/>
              <a:t>st.cache_resource</a:t>
            </a:r>
            <a:br>
              <a:rPr lang="pt-BR" dirty="0"/>
            </a:br>
            <a:r>
              <a:rPr lang="pt-BR" dirty="0"/>
              <a:t>Usado para recursos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945DDE-BDA4-760E-9796-C4C34D3A92F4}"/>
              </a:ext>
            </a:extLst>
          </p:cNvPr>
          <p:cNvSpPr txBox="1"/>
          <p:nvPr/>
        </p:nvSpPr>
        <p:spPr>
          <a:xfrm>
            <a:off x="1390289" y="4098088"/>
            <a:ext cx="41382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Modelos de 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Conexões de banco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Clientes de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Objetos pesados</a:t>
            </a:r>
          </a:p>
        </p:txBody>
      </p:sp>
      <p:pic>
        <p:nvPicPr>
          <p:cNvPr id="18" name="Imagem 17" descr="Texto&#10;&#10;O conteúdo gerado por IA pode estar incorreto.">
            <a:extLst>
              <a:ext uri="{FF2B5EF4-FFF2-40B4-BE49-F238E27FC236}">
                <a16:creationId xmlns:a16="http://schemas.microsoft.com/office/drawing/2014/main" id="{0C0C9395-2A97-46F8-5B81-A1971799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288" y="1999072"/>
            <a:ext cx="5431971" cy="201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3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TTL (Time to Live)</a:t>
            </a:r>
            <a:br>
              <a:rPr lang="pt-BR" kern="1200" cap="all" spc="150" baseline="0" dirty="0">
                <a:latin typeface="+mj-lt"/>
                <a:ea typeface="+mj-ea"/>
                <a:cs typeface="+mj-cs"/>
              </a:rPr>
            </a:br>
            <a:r>
              <a:rPr lang="pt-BR" sz="1400" dirty="0"/>
              <a:t>tempo de vida do cache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5F9DDF-D74C-899A-F214-5A2039A0A3DD}"/>
              </a:ext>
            </a:extLst>
          </p:cNvPr>
          <p:cNvSpPr txBox="1"/>
          <p:nvPr/>
        </p:nvSpPr>
        <p:spPr>
          <a:xfrm>
            <a:off x="838199" y="2455047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Define </a:t>
            </a:r>
            <a:r>
              <a:rPr lang="pt-BR" b="1" dirty="0"/>
              <a:t>por quanto tempo o resultado armazenado pode ser reutilizado antes de ser considerado inválido</a:t>
            </a:r>
            <a:endParaRPr lang="pt-BR" dirty="0"/>
          </a:p>
        </p:txBody>
      </p:sp>
      <p:pic>
        <p:nvPicPr>
          <p:cNvPr id="4" name="Imagem 3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D90D222-B518-6C6F-E54E-4FA1F28D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38685"/>
            <a:ext cx="7632941" cy="195577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938EF8D-983E-1F83-503B-E62CC080C779}"/>
              </a:ext>
            </a:extLst>
          </p:cNvPr>
          <p:cNvSpPr txBox="1"/>
          <p:nvPr/>
        </p:nvSpPr>
        <p:spPr>
          <a:xfrm>
            <a:off x="838199" y="5531764"/>
            <a:ext cx="1061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dirty="0">
                <a:effectLst/>
                <a:latin typeface="-apple-system"/>
              </a:rPr>
              <a:t>O TTL não executa a função automaticamente ao expirar. </a:t>
            </a:r>
            <a:r>
              <a:rPr lang="pt-BR" dirty="0">
                <a:latin typeface="-apple-system"/>
              </a:rPr>
              <a:t>A</a:t>
            </a:r>
            <a:r>
              <a:rPr lang="pt-BR" b="0" i="0" dirty="0">
                <a:effectLst/>
                <a:latin typeface="-apple-system"/>
              </a:rPr>
              <a:t>penas força o recálculo na próxima interação.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D2945-307A-BA73-060B-F6FAD1BD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7EB16-BA16-71B7-AC5B-AC358EB4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TTL (Time to Live)</a:t>
            </a:r>
            <a:br>
              <a:rPr lang="pt-BR" kern="1200" cap="all" spc="150" baseline="0" dirty="0">
                <a:latin typeface="+mj-lt"/>
                <a:ea typeface="+mj-ea"/>
                <a:cs typeface="+mj-cs"/>
              </a:rPr>
            </a:br>
            <a:r>
              <a:rPr lang="pt-BR" sz="1400" dirty="0"/>
              <a:t>tempo de vida do cache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34B6F0-A630-4372-2E9C-3AE2DF071598}"/>
              </a:ext>
            </a:extLst>
          </p:cNvPr>
          <p:cNvSpPr txBox="1"/>
          <p:nvPr/>
        </p:nvSpPr>
        <p:spPr>
          <a:xfrm>
            <a:off x="838199" y="2455047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Define </a:t>
            </a:r>
            <a:r>
              <a:rPr lang="pt-BR" b="1" dirty="0"/>
              <a:t>por quanto tempo o resultado armazenado pode ser reutilizado antes de ser considerado inválido</a:t>
            </a:r>
            <a:endParaRPr lang="pt-BR" dirty="0"/>
          </a:p>
        </p:txBody>
      </p:sp>
      <p:pic>
        <p:nvPicPr>
          <p:cNvPr id="4" name="Imagem 3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A34D0E5-EC72-753D-D70D-733A26317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38685"/>
            <a:ext cx="7632941" cy="195577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0F5FA36-34D3-07B1-2F85-41D5B419AA2A}"/>
              </a:ext>
            </a:extLst>
          </p:cNvPr>
          <p:cNvSpPr txBox="1"/>
          <p:nvPr/>
        </p:nvSpPr>
        <p:spPr>
          <a:xfrm>
            <a:off x="838199" y="5531764"/>
            <a:ext cx="1061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dirty="0">
                <a:effectLst/>
                <a:latin typeface="-apple-system"/>
              </a:rPr>
              <a:t>O TTL não executa a função automaticamente ao expirar. </a:t>
            </a:r>
            <a:r>
              <a:rPr lang="pt-BR" dirty="0">
                <a:latin typeface="-apple-system"/>
              </a:rPr>
              <a:t>A</a:t>
            </a:r>
            <a:r>
              <a:rPr lang="pt-BR" b="0" i="0" dirty="0">
                <a:effectLst/>
                <a:latin typeface="-apple-system"/>
              </a:rPr>
              <a:t>penas força o recálculo na próxima interação.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47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A71E-BEED-1E93-3C58-7A039B20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1D19522-C630-92FF-AADE-45E4A024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 rtlCol="0"/>
          <a:lstStyle/>
          <a:p>
            <a:pPr rtl="0"/>
            <a:r>
              <a:rPr lang="pt-BR" dirty="0"/>
              <a:t>Pergunta Estratégica</a:t>
            </a:r>
          </a:p>
        </p:txBody>
      </p:sp>
      <p:graphicFrame>
        <p:nvGraphicFramePr>
          <p:cNvPr id="53" name="Tabela 50">
            <a:extLst>
              <a:ext uri="{FF2B5EF4-FFF2-40B4-BE49-F238E27FC236}">
                <a16:creationId xmlns:a16="http://schemas.microsoft.com/office/drawing/2014/main" id="{2E0A5492-C6FA-74C5-606A-8611B7DF5041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728597197"/>
              </p:ext>
            </p:extLst>
          </p:nvPr>
        </p:nvGraphicFramePr>
        <p:xfrm>
          <a:off x="838200" y="1415143"/>
          <a:ext cx="1120427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12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7039154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pt-BR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 que frequência esse dado realmente precisa ser atualizado?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800" b="0" cap="all" spc="15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endParaRPr lang="pt-BR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pt-BR" sz="1600" b="1" kern="12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cada clique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Talvez não devesse ser cacheado.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cada alguns minutos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Cache com TTL é ideal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/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Raramente muda</a:t>
                      </a:r>
                      <a:endParaRPr lang="pt-BR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Cache com TTL longo ou sem TTL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</a:tbl>
          </a:graphicData>
        </a:graphic>
      </p:graphicFrame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D9D3A7-B0CE-D00E-D79F-99BEF75EF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85A71BE-0CAE-127B-7367-4D88AAB56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70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DADD-C147-F820-CE2B-17B85414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320CE-4A28-004C-4799-245B3C5A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Invalidação manual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560232-D15D-3F47-DD30-2BBBF4ED4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852" y="2885257"/>
            <a:ext cx="5202295" cy="108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0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2C09-A99F-8390-7ABA-BF917019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8797F-1FA2-B74F-5CA3-B9C42724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Problemas comuns - modificar o objeto diretamente</a:t>
            </a: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2D09D7D6-63A8-C0AA-1FD6-ACB7EEF76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55" y="2424774"/>
            <a:ext cx="8708083" cy="354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7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557E-CBFE-28E7-F127-4F690FFA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EF448-47E6-F57D-5D7B-23542E34A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Problemas comuns - modificar o objeto diretamente</a:t>
            </a: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E618882E-DEDA-2600-1B41-1983E0EF2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2" y="2873347"/>
            <a:ext cx="5441548" cy="2215487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43DEA087-B42D-6FB9-ED88-FC1884342EA1}"/>
              </a:ext>
            </a:extLst>
          </p:cNvPr>
          <p:cNvSpPr/>
          <p:nvPr/>
        </p:nvSpPr>
        <p:spPr>
          <a:xfrm>
            <a:off x="6297282" y="3507012"/>
            <a:ext cx="1811547" cy="94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1BD6D92-95E3-4A31-E36B-DA3EEDEB1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112" y="3598997"/>
            <a:ext cx="3680606" cy="65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58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3676-DE92-0334-D259-6297E426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6BF41-C9E1-F6D1-B2D9-4470FE09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Problemas comuns - Dependências invisíveis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84F7FA65-DFD7-B348-B88A-8F501533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282" y="2210897"/>
            <a:ext cx="8229561" cy="266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11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7458-B2B4-D1ED-4763-C7C65489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20625-341F-9A54-30EB-5916210B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5" y="892177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Problemas comuns - Dependências invisíveis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EF71A1B9-3222-3FF6-14D7-3EC04E8D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5" y="2721552"/>
            <a:ext cx="4369526" cy="1414895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02BB3FA7-1AFA-3B69-A1AF-AEE53D5E28A5}"/>
              </a:ext>
            </a:extLst>
          </p:cNvPr>
          <p:cNvSpPr/>
          <p:nvPr/>
        </p:nvSpPr>
        <p:spPr>
          <a:xfrm>
            <a:off x="4779034" y="2963172"/>
            <a:ext cx="1639019" cy="9316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AB293297-0DE9-1037-5AF8-3ED0AB1BF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846" y="2406882"/>
            <a:ext cx="5311181" cy="204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1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847</TotalTime>
  <Words>382</Words>
  <Application>Microsoft Office PowerPoint</Application>
  <PresentationFormat>Widescreen</PresentationFormat>
  <Paragraphs>99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Calibri</vt:lpstr>
      <vt:lpstr>Tenorite</vt:lpstr>
      <vt:lpstr>Linha única</vt:lpstr>
      <vt:lpstr>Caching, Performance e Conectividade</vt:lpstr>
      <vt:lpstr>Caching</vt:lpstr>
      <vt:lpstr>Caching</vt:lpstr>
      <vt:lpstr>Caching</vt:lpstr>
      <vt:lpstr>Caching</vt:lpstr>
      <vt:lpstr>Caching</vt:lpstr>
      <vt:lpstr>st.cache_data Usado para dados</vt:lpstr>
      <vt:lpstr>st.cache_resource Usado para recursos</vt:lpstr>
      <vt:lpstr>TTL (Time to Live) tempo de vida do cache</vt:lpstr>
      <vt:lpstr>TTL (Time to Live) tempo de vida do cache</vt:lpstr>
      <vt:lpstr>Pergunta Estratégica</vt:lpstr>
      <vt:lpstr>Invalidação manual</vt:lpstr>
      <vt:lpstr>Problemas comuns - modificar o objeto diretamente</vt:lpstr>
      <vt:lpstr>Problemas comuns - modificar o objeto diretamente</vt:lpstr>
      <vt:lpstr>Problemas comuns - Dependências invisíveis</vt:lpstr>
      <vt:lpstr>Problemas comuns - Dependências invisíveis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66</cp:revision>
  <dcterms:created xsi:type="dcterms:W3CDTF">2026-02-08T14:58:32Z</dcterms:created>
  <dcterms:modified xsi:type="dcterms:W3CDTF">2026-02-23T19:41:28Z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